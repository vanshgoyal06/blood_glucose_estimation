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3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3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3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3.xml><?xml version="1.0" encoding="utf-8"?>
<a:tblStyleLst xmlns:a="http://schemas.openxmlformats.org/drawingml/2006/main" xmlns:r="http://schemas.openxmlformats.org/officeDocument/2006/relationships" def="{90651C3A-4460-11DB-9652-00E08161165F}">
  <a:tblStyle styleId="{4C5D8C8D-3C95-4E67-B154-8CB50A29E24E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D5ABB26-0587-4C30-8999-92F81FD0307C}" styleName="No Style, No Grid">
    <a:wholeTbl>
      <a:tcTxStyle>
        <a:fontRef idx="minor">
          <a:scrgbClr b="0" g="0" r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42C6F1-CE41-40F7-ABC3-D4AFC5FD5BC2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3.xml"/><Relationship Id="rId3" Type="http://schemas.openxmlformats.org/officeDocument/2006/relationships/tableStyles" Target="tableStyles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5429-4865-76C7-A1AA-FD781D46B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B904D-4D98-BA3E-4402-3239B5B28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FD6AE-A898-2A0E-4203-00E052624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4244F-F650-1C0B-659F-A431AB97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095B4-D85B-4CF0-3F4B-EAA4D6D0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8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711B-C334-729A-53B0-0A2278BD8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78A3A-3F83-1817-E473-8DBB22839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CF370-FE36-6A37-F411-E07DB310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A3D8E-A85B-8505-509F-62CF502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5E21C-28B7-947E-1E8B-859EBCA13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367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A05F-34A8-F943-F230-B5A34647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04786-26CB-ED1F-A891-CF14BC0AA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BFCEC-1264-AD20-ACAB-BF961DB3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1037E-46ED-9ED4-70D9-7F379A5C8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3757B-8B43-9703-9435-C6887304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651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F8D5-589C-9495-DF26-9D6774A3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3C63E-EAD8-CB98-57D2-82C36C9FA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C2D3D-E0D9-A205-D0B1-B665B9CCC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8F205-D8ED-7E94-F131-13EDF70E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F2C2D-6DB1-2D3A-AF10-9821C83F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2F272-4545-C221-286F-E2CB060A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36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F3AD-FC32-02DA-2EA2-E58793A23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E1A39-E991-2FC0-71A6-951A360A9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12C32-E83C-E623-0C70-2B843BED7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190A33-8E72-0C5A-AF61-878801072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37379-AE1D-0AB7-B2F4-408F7B519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CADF4-8E80-5696-254A-288EC7C9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71E4A-D8EB-B6E7-E141-D1FFA98D7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2B1F5-26BC-86E2-B53A-9EC68B1D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231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2ACF4-EB91-5FDB-6F90-C11338BD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7E5000-A879-85C4-AE11-9AF8FF12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B9CED-E987-3458-0222-2684E5BEE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15C26-F964-2ACB-434E-EBE1B4C5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406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F3C90-325A-94A3-C365-F0270C1E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B63B6-8AA2-F3A3-9163-899B303E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54A07-4638-1F24-0F50-2D471CBA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62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B1C1-249A-534B-E655-D410AE0DC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45A62-270A-4FDA-4C11-53F863BB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EAA05-40CC-DD21-581B-E1C3ED562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CDDED-D9F0-342D-FB21-AACCF7B41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91CDC-60AC-A3E5-E4D5-61469571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92DAE-BECD-45D1-4727-938EBC2C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6113-9939-1C3E-A790-B41524F2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34BE79-954A-8091-EF42-41D752466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CE956-93E5-A3D1-CC17-34B1AC139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4C9FA-BC48-F9DB-44B4-AFA99C146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9AF0C-2287-7355-6873-9B0D87C2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8B48C-34E8-179A-ACDB-68A8F087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69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E249-3D56-4118-3355-698BA084B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689A9F-F67D-AEE8-8328-3326C44B7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4EB25-3EE5-F350-6B44-4C4680D5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80B99-A7E0-56EF-FA38-89EDFD9C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B914C-09D9-FFC0-E889-DFC08B7A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21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3BF82-79FA-6B35-8731-91C77C8A7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B14DD-C90D-CE42-D829-DA3B4B90B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0B731-94B8-8250-E176-7F79A734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72EDF-DF4D-AB2F-7FEE-E9E6D1F13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10783-AA2B-0ED9-53F9-5E63EC609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72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ABCC39-DD15-DF0E-B934-6595F5DF6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FE821-401B-BF1F-5784-36474B4E3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2E1BB-C3FA-0C71-9863-1F1D5E25B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DF42EB-9442-41C0-B8B6-6555D8093707}" type="datetimeFigureOut">
              <a:rPr lang="en-IN" smtClean="0"/>
              <a:t>19-05-2025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02396-9B28-7810-E531-FAF61C875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3DF52-47F2-00CA-7CA8-C6C974A65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64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rc.bmj.com/content/9/1/e002027" TargetMode="External"/><Relationship Id="rId3" Type="http://schemas.openxmlformats.org/officeDocument/2006/relationships/hyperlink" Target="https://www.sciencedirect.com/science/article/pii/S2666990023000034" TargetMode="External"/><Relationship Id="rId7" Type="http://schemas.openxmlformats.org/officeDocument/2006/relationships/hyperlink" Target="https://ieeexplore.ieee.org/abstract/document/8631545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abstract/document/8868879/" TargetMode="External"/><Relationship Id="rId11" Type="http://schemas.openxmlformats.org/officeDocument/2006/relationships/hyperlink" Target="https://ieeexplore.ieee.org/abstract/document/9149666/" TargetMode="External"/><Relationship Id="rId5" Type="http://schemas.openxmlformats.org/officeDocument/2006/relationships/hyperlink" Target="https://ieeexplore.ieee.org/abstract/document/9028112/" TargetMode="External"/><Relationship Id="rId10" Type="http://schemas.openxmlformats.org/officeDocument/2006/relationships/hyperlink" Target="https://www.mdpi.com/1424-8220/18/7/2183" TargetMode="External"/><Relationship Id="rId4" Type="http://schemas.openxmlformats.org/officeDocument/2006/relationships/hyperlink" Target="https://ieeexplore.ieee.org/abstract/document/9377138/" TargetMode="External"/><Relationship Id="rId9" Type="http://schemas.openxmlformats.org/officeDocument/2006/relationships/hyperlink" Target="https://www.mdpi.com/2079-9292/9/4/678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ieeexplore.ieee.org/abstract/document/8110137/" TargetMode="External"/><Relationship Id="rId4" Type="http://schemas.openxmlformats.org/officeDocument/2006/relationships/hyperlink" Target="https://ieeexplore.ieee.org/abstract/document/9103408/" TargetMode="External"/><Relationship Id="rId5" Type="http://schemas.openxmlformats.org/officeDocument/2006/relationships/hyperlink" Target="https://ieeexplore.ieee.org/abstract/document/9110825/" TargetMode="External"/><Relationship Id="rId6" Type="http://schemas.openxmlformats.org/officeDocument/2006/relationships/hyperlink" Target="https://ieeexplore.ieee.org/abstract/document/9063193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0D3C-A15D-D40A-CD4B-2B275664C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381" y="2028090"/>
            <a:ext cx="9271958" cy="1168369"/>
          </a:xfrm>
        </p:spPr>
        <p:txBody>
          <a:bodyPr>
            <a:norm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Estimating blood glucose level using non-invasive wearable device data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F98E8-B76D-47D2-E0EB-F1A1E6252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6233" y="3661541"/>
            <a:ext cx="3088254" cy="1289139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2021UIC3504     LAKSHAY SHARMA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2021UIC3507     ASHISH CHANDELA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2021UIC3509            VANSH GOYAL</a:t>
            </a:r>
          </a:p>
          <a:p>
            <a:pPr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red circle with text and stars">
            <a:extLst>
              <a:ext uri="{FF2B5EF4-FFF2-40B4-BE49-F238E27FC236}">
                <a16:creationId xmlns:a16="http://schemas.microsoft.com/office/drawing/2014/main" id="{09ABAFD0-7C96-0BD7-7A49-073C3B66F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426" y="80701"/>
            <a:ext cx="1387148" cy="1387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A537BE-9617-71B4-9726-B40EDF3ED1F4}"/>
              </a:ext>
            </a:extLst>
          </p:cNvPr>
          <p:cNvSpPr txBox="1"/>
          <p:nvPr/>
        </p:nvSpPr>
        <p:spPr>
          <a:xfrm>
            <a:off x="5375961" y="6346412"/>
            <a:ext cx="18287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105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Term Review </a:t>
            </a:r>
          </a:p>
          <a:p>
            <a:r>
              <a:rPr lang="en-US" sz="105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ICICC23  B. Tech Project– II</a:t>
            </a:r>
            <a:endParaRPr lang="en-I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60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1296-31A0-2BB9-5B73-F2881BAD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51242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8EF5C-176E-B0EF-153E-5E0614BFB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1242"/>
            <a:ext cx="10515600" cy="4351338"/>
          </a:xfrm>
        </p:spPr>
        <p:txBody>
          <a:bodyPr>
            <a:no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Identified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Aim/Objectives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Statement/Methodology/Equations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Content Placeholder 4" descr="A red circle with text and stars&#10;&#10;Description automatically generated">
            <a:extLst>
              <a:ext uri="{FF2B5EF4-FFF2-40B4-BE49-F238E27FC236}">
                <a16:creationId xmlns:a16="http://schemas.microsoft.com/office/drawing/2014/main" id="{13A03818-BA1B-987F-19C0-D3E86EA97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077" y="0"/>
            <a:ext cx="976923" cy="97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34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"/>
          <p:cNvSpPr txBox="1"/>
          <p:nvPr>
            <p:ph type="title"/>
          </p:nvPr>
        </p:nvSpPr>
        <p:spPr>
          <a:xfrm>
            <a:off x="699477" y="0"/>
            <a:ext cx="105156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pic>
        <p:nvPicPr>
          <p:cNvPr descr="A red circle with text and stars&#10;&#10;Description automatically generated" id="1042" name="Google Shape;104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15077" y="0"/>
            <a:ext cx="976923" cy="976923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1"/>
          <p:cNvSpPr/>
          <p:nvPr/>
        </p:nvSpPr>
        <p:spPr>
          <a:xfrm>
            <a:off x="701602" y="1020986"/>
            <a:ext cx="105135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Diabetes impairs the body's ability to regulate glucose, necessitating frequent monitoring of blood glucose levels (BGL).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invasive methods are often impractical for continuous use.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study explores AI-driven, non-invasive BGL estimation using data from wearable devices 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44" name="Google Shape;1044;p1"/>
          <p:cNvGraphicFramePr/>
          <p:nvPr/>
        </p:nvGraphicFramePr>
        <p:xfrm>
          <a:off x="442599" y="36871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{4C5D8C8D-3C95-4E67-B154-8CB50A29E24E}</a:tableStyleId>
              </a:tblPr>
              <a:tblGrid>
                <a:gridCol w="2583600"/>
                <a:gridCol w="2583600"/>
              </a:tblGrid>
              <a:tr h="27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 u="none" cap="none" strike="noStrike"/>
                        <a:t>Frequency (per day)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/>
                        <a:t>% of Diabetic Patients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7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/>
                        <a:t>1–2 times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/>
                        <a:t>42%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7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/>
                        <a:t>3–5 times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/>
                        <a:t>36%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7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/>
                        <a:t>&gt;5 times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/>
                        <a:t>12%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7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/>
                        <a:t>Rarely/None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800"/>
                        <a:t>10%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045" name="Google Shape;1045;p1"/>
          <p:cNvSpPr txBox="1"/>
          <p:nvPr/>
        </p:nvSpPr>
        <p:spPr>
          <a:xfrm>
            <a:off x="442599" y="3059668"/>
            <a:ext cx="479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Frequency of Finger-Prick Glucose Monitoring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1296-31A0-2BB9-5B73-F2881BAD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77" y="0"/>
            <a:ext cx="10515600" cy="518978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Content Placeholder 4" descr="A red circle with text and stars&#10;&#10;Description automatically generated">
            <a:extLst>
              <a:ext uri="{FF2B5EF4-FFF2-40B4-BE49-F238E27FC236}">
                <a16:creationId xmlns:a16="http://schemas.microsoft.com/office/drawing/2014/main" id="{13A03818-BA1B-987F-19C0-D3E86EA97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077" y="0"/>
            <a:ext cx="976923" cy="97692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D2370-4DC5-591D-6E67-C521C8DEA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6BB8C3-65DC-9F48-452E-8577EE922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143928"/>
              </p:ext>
            </p:extLst>
          </p:nvPr>
        </p:nvGraphicFramePr>
        <p:xfrm>
          <a:off x="699476" y="976923"/>
          <a:ext cx="10654324" cy="33223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63581">
                  <a:extLst>
                    <a:ext uri="{9D8B030D-6E8A-4147-A177-3AD203B41FA5}">
                      <a16:colId xmlns:a16="http://schemas.microsoft.com/office/drawing/2014/main" val="738604890"/>
                    </a:ext>
                  </a:extLst>
                </a:gridCol>
                <a:gridCol w="2663581">
                  <a:extLst>
                    <a:ext uri="{9D8B030D-6E8A-4147-A177-3AD203B41FA5}">
                      <a16:colId xmlns:a16="http://schemas.microsoft.com/office/drawing/2014/main" val="3797979329"/>
                    </a:ext>
                  </a:extLst>
                </a:gridCol>
                <a:gridCol w="2663581">
                  <a:extLst>
                    <a:ext uri="{9D8B030D-6E8A-4147-A177-3AD203B41FA5}">
                      <a16:colId xmlns:a16="http://schemas.microsoft.com/office/drawing/2014/main" val="3885811367"/>
                    </a:ext>
                  </a:extLst>
                </a:gridCol>
                <a:gridCol w="2663581">
                  <a:extLst>
                    <a:ext uri="{9D8B030D-6E8A-4147-A177-3AD203B41FA5}">
                      <a16:colId xmlns:a16="http://schemas.microsoft.com/office/drawing/2014/main" val="4083800121"/>
                    </a:ext>
                  </a:extLst>
                </a:gridCol>
              </a:tblGrid>
              <a:tr h="294357">
                <a:tc>
                  <a:txBody>
                    <a:bodyPr/>
                    <a:lstStyle/>
                    <a:p>
                      <a:r>
                        <a:rPr lang="en-IN" sz="1400" b="0" dirty="0"/>
                        <a:t>Aspect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Observation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Supporting Statistic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Example Studies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250196249"/>
                  </a:ext>
                </a:extLst>
              </a:tr>
              <a:tr h="750248">
                <a:tc>
                  <a:txBody>
                    <a:bodyPr/>
                    <a:lstStyle/>
                    <a:p>
                      <a:r>
                        <a:rPr lang="en-IN" sz="1400" b="0"/>
                        <a:t>Traditional ML Models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Random Forest (RF) is the most frequently used classical ML model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34% of studies (15 out of 44)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[2], [3], [4], [5]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3475526979"/>
                  </a:ext>
                </a:extLst>
              </a:tr>
              <a:tr h="750248">
                <a:tc>
                  <a:txBody>
                    <a:bodyPr/>
                    <a:lstStyle/>
                    <a:p>
                      <a:r>
                        <a:rPr lang="en-IN" sz="1400" b="0" dirty="0"/>
                        <a:t>Task Type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Regression is preferred over classification for glucose prediction tasks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68% of studies (30 out of 44)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[5], [6], [7], [8], [9]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1059153860"/>
                  </a:ext>
                </a:extLst>
              </a:tr>
              <a:tr h="664114">
                <a:tc>
                  <a:txBody>
                    <a:bodyPr/>
                    <a:lstStyle/>
                    <a:p>
                      <a:r>
                        <a:rPr lang="en-IN" sz="1400" b="0"/>
                        <a:t>Evaluation Metrics</a:t>
                      </a:r>
                      <a:endParaRPr lang="en-IN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RMSE is the most widely reported performance metric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71% of studies (31 out of 44)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[3], [4], [5], [8], [9]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2309419265"/>
                  </a:ext>
                </a:extLst>
              </a:tr>
              <a:tr h="863349">
                <a:tc>
                  <a:txBody>
                    <a:bodyPr/>
                    <a:lstStyle/>
                    <a:p>
                      <a:r>
                        <a:rPr lang="en-IN" sz="1400" b="0" dirty="0"/>
                        <a:t>Data Balancing Technique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SMOTE and its variants (e.g., ADASYN) are commonly used for class imbalance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US" sz="1400" b="0"/>
                        <a:t>27% of studies (12 out of 44)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 [10], [11], [12], [13]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162" marR="62162" marT="31081" marB="31081" anchor="ctr"/>
                </a:tc>
                <a:extLst>
                  <a:ext uri="{0D108BD9-81ED-4DB2-BD59-A6C34878D82A}">
                    <a16:rowId xmlns:a16="http://schemas.microsoft.com/office/drawing/2014/main" val="2676625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651D90-5075-17FB-9AC0-20D0BB13D373}"/>
              </a:ext>
            </a:extLst>
          </p:cNvPr>
          <p:cNvSpPr txBox="1"/>
          <p:nvPr/>
        </p:nvSpPr>
        <p:spPr>
          <a:xfrm>
            <a:off x="699476" y="4434018"/>
            <a:ext cx="10654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assess model effectiveness, metrics such as Clarke Grid Error (CGE) [2,3,4,13] and Root Mean Square Error (RMSE) [2,3,5, 7, 8] were predominantly employed. The reported RMSE values spanned from 0.357 to 25.621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563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1296-31A0-2BB9-5B73-F2881BAD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49" y="0"/>
            <a:ext cx="10515600" cy="709127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Identified</a:t>
            </a:r>
          </a:p>
        </p:txBody>
      </p:sp>
      <p:pic>
        <p:nvPicPr>
          <p:cNvPr id="5" name="Content Placeholder 4" descr="A red circle with text and stars&#10;&#10;Description automatically generated">
            <a:extLst>
              <a:ext uri="{FF2B5EF4-FFF2-40B4-BE49-F238E27FC236}">
                <a16:creationId xmlns:a16="http://schemas.microsoft.com/office/drawing/2014/main" id="{13A03818-BA1B-987F-19C0-D3E86EA97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077" y="0"/>
            <a:ext cx="976923" cy="9769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6019ED-8AA3-D8F9-8552-06C486981ED5}"/>
              </a:ext>
            </a:extLst>
          </p:cNvPr>
          <p:cNvSpPr txBox="1"/>
          <p:nvPr/>
        </p:nvSpPr>
        <p:spPr>
          <a:xfrm>
            <a:off x="594872" y="976923"/>
            <a:ext cx="106967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work often ignored class/data imbalance issues, leading to biased models.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studies rely on static datasets and do not account for time related dependencies, which are critical in  real-world wearable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Under-utilized Feature Selection and model explainability tools (correlation maps, feature importance plots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Inconsistency: RMSE, MAE, CGE used interchangeably—hard to compare.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Wearables are often expensive, in early development, and not yet FDA-approved.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 public benchmark datasets for fair comparisons.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papers address denoising techniques for wearables (e.g., wavelet transforms + ML).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exploration into hybrid ML-DL architectures (e.g., XGBoost for feature selection + LSTM for time-series)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007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1296-31A0-2BB9-5B73-F2881BAD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145" y="0"/>
            <a:ext cx="10515600" cy="511952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Aim/Objectives/Scope/Limitations</a:t>
            </a:r>
          </a:p>
        </p:txBody>
      </p:sp>
      <p:pic>
        <p:nvPicPr>
          <p:cNvPr id="5" name="Content Placeholder 4" descr="A red circle with text and stars&#10;&#10;Description automatically generated">
            <a:extLst>
              <a:ext uri="{FF2B5EF4-FFF2-40B4-BE49-F238E27FC236}">
                <a16:creationId xmlns:a16="http://schemas.microsoft.com/office/drawing/2014/main" id="{13A03818-BA1B-987F-19C0-D3E86EA97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077" y="0"/>
            <a:ext cx="976923" cy="9769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076903-42B0-E47E-789B-ADB80ABCFBE6}"/>
              </a:ext>
            </a:extLst>
          </p:cNvPr>
          <p:cNvSpPr txBox="1"/>
          <p:nvPr/>
        </p:nvSpPr>
        <p:spPr>
          <a:xfrm>
            <a:off x="718457" y="976923"/>
            <a:ext cx="104966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best-performing model for potential real-time deployment in non-invasive monitoring systems.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•Identification, Analysis &amp; Preprocessing of the dataset from wearable devices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•Application of multiple models to estimate BGL using the processed data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•Identification of the most accurate model using metric evaluation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highly accurate , cross platform software ready for deployment and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real time and continuous detection of BGL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FDA Approved or clinically proven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no  framework for  prediction based on long term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compatible for all devices due to complex and long code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assume high-quality sensor data (may not generalize to noisy wearables).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311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1296-31A0-2BB9-5B73-F2881BAD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477" y="6099"/>
            <a:ext cx="10515600" cy="630912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Statement/Methodology/Equations Used</a:t>
            </a:r>
          </a:p>
        </p:txBody>
      </p:sp>
      <p:pic>
        <p:nvPicPr>
          <p:cNvPr id="5" name="Content Placeholder 4" descr="A red circle with text and stars&#10;&#10;Description automatically generated">
            <a:extLst>
              <a:ext uri="{FF2B5EF4-FFF2-40B4-BE49-F238E27FC236}">
                <a16:creationId xmlns:a16="http://schemas.microsoft.com/office/drawing/2014/main" id="{13A03818-BA1B-987F-19C0-D3E86EA97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077" y="0"/>
            <a:ext cx="976923" cy="9769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492574-7273-F8CB-F303-29A383E5D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7" y="2230855"/>
            <a:ext cx="1780875" cy="278109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333FB03-FF76-ABFB-AD57-48CB100CFE90}"/>
              </a:ext>
            </a:extLst>
          </p:cNvPr>
          <p:cNvGrpSpPr/>
          <p:nvPr/>
        </p:nvGrpSpPr>
        <p:grpSpPr>
          <a:xfrm>
            <a:off x="51720" y="1684020"/>
            <a:ext cx="12140280" cy="5173980"/>
            <a:chOff x="51720" y="1684020"/>
            <a:chExt cx="12140280" cy="517398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B34A60-E70B-5807-A46B-29DCB3DFB783}"/>
                </a:ext>
              </a:extLst>
            </p:cNvPr>
            <p:cNvSpPr txBox="1"/>
            <p:nvPr/>
          </p:nvSpPr>
          <p:spPr>
            <a:xfrm>
              <a:off x="284927" y="1684020"/>
              <a:ext cx="1780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Problem Statement</a:t>
              </a:r>
              <a:endParaRPr lang="en-IN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F69A330-8A21-DF9B-16F6-3AEF19B05143}"/>
                </a:ext>
              </a:extLst>
            </p:cNvPr>
            <p:cNvGrpSpPr/>
            <p:nvPr/>
          </p:nvGrpSpPr>
          <p:grpSpPr>
            <a:xfrm>
              <a:off x="51720" y="1684020"/>
              <a:ext cx="12140280" cy="5173980"/>
              <a:chOff x="51720" y="1684020"/>
              <a:chExt cx="12140280" cy="517398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2C81E78-1F21-2152-9014-15200DE677CB}"/>
                  </a:ext>
                </a:extLst>
              </p:cNvPr>
              <p:cNvGrpSpPr/>
              <p:nvPr/>
            </p:nvGrpSpPr>
            <p:grpSpPr>
              <a:xfrm>
                <a:off x="2065802" y="1684020"/>
                <a:ext cx="10126198" cy="5173980"/>
                <a:chOff x="74644" y="1091682"/>
                <a:chExt cx="11409716" cy="5766318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5223D8DB-1F73-FDFC-8A6D-82713FDBCE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644" y="1091682"/>
                  <a:ext cx="9825427" cy="5766318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28675B3F-AAF7-3622-C674-691C652950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28523"/>
                <a:stretch/>
              </p:blipFill>
              <p:spPr>
                <a:xfrm>
                  <a:off x="9734361" y="5047223"/>
                  <a:ext cx="1749999" cy="719095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C075B833-F649-FC58-25AD-EE2415CCE1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16752"/>
                <a:stretch/>
              </p:blipFill>
              <p:spPr>
                <a:xfrm>
                  <a:off x="9864921" y="6044748"/>
                  <a:ext cx="1619439" cy="630912"/>
                </a:xfrm>
                <a:prstGeom prst="rect">
                  <a:avLst/>
                </a:prstGeom>
              </p:spPr>
            </p:pic>
          </p:grpSp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DE91633F-EC0C-01A7-892F-89E305A16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20" y="1919458"/>
                <a:ext cx="2708694" cy="1015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Invasive glucose monitoring is inconvenient. We aim to estimate blood glucose non-invasively using wearable data and machine learning.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6632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"/>
          <p:cNvSpPr txBox="1"/>
          <p:nvPr>
            <p:ph type="title"/>
          </p:nvPr>
        </p:nvSpPr>
        <p:spPr>
          <a:xfrm>
            <a:off x="838198" y="0"/>
            <a:ext cx="105156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Result/Outcomes of the work</a:t>
            </a:r>
            <a:endParaRPr/>
          </a:p>
        </p:txBody>
      </p:sp>
      <p:pic>
        <p:nvPicPr>
          <p:cNvPr descr="A red circle with text and stars&#10;&#10;Description automatically generated" id="1030" name="Google Shape;1030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15077" y="0"/>
            <a:ext cx="976923" cy="976923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1"/>
          <p:cNvSpPr txBox="1"/>
          <p:nvPr/>
        </p:nvSpPr>
        <p:spPr>
          <a:xfrm>
            <a:off x="699478" y="4467532"/>
            <a:ext cx="10515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RMSE reflects the average error in mg/dL. A lower RMSE (e.g., ~2 mg/dL in CatBoost) means near-clinical-grade accuracy, reducing the risk of false alarms or missed alerts.</a:t>
            </a:r>
            <a:endParaRPr i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R² close to 1 (e.g., 0.9977 for CatBoost) means the model can accurately follow physiological glucose fluctuations, helping in personalized insulin dosing or lifestyle recommendations.</a:t>
            </a:r>
            <a:r>
              <a:rPr i="0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032" name="Google Shape;1032;p1"/>
          <p:cNvSpPr txBox="1"/>
          <p:nvPr/>
        </p:nvSpPr>
        <p:spPr>
          <a:xfrm>
            <a:off x="768838" y="729991"/>
            <a:ext cx="105156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</a:t>
            </a:r>
            <a:endParaRPr i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33" name="Google Shape;1033;p1"/>
          <p:cNvGraphicFramePr/>
          <p:nvPr/>
        </p:nvGraphicFramePr>
        <p:xfrm>
          <a:off x="838198" y="1111324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{5D42C6F1-CE41-40F7-ABC3-D4AFC5FD5BC2}</a:tableStyleId>
              </a:tblPr>
              <a:tblGrid>
                <a:gridCol w="1106250"/>
                <a:gridCol w="1070850"/>
                <a:gridCol w="1070850"/>
                <a:gridCol w="1004925"/>
                <a:gridCol w="1004925"/>
              </a:tblGrid>
              <a:tr h="65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Model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Validation RMSE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Validation R²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Test RMSE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Test R²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3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CatBoost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/>
                        <a:t>2.6724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0.993</a:t>
                      </a:r>
                      <a:r>
                        <a:rPr lang="en-IN" sz="1200"/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2.</a:t>
                      </a:r>
                      <a:r>
                        <a:rPr lang="en-IN" sz="1200"/>
                        <a:t>8193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0.99</a:t>
                      </a:r>
                      <a:r>
                        <a:rPr lang="en-IN" sz="1200"/>
                        <a:t>304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3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XGBoost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2.6516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0.9936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2.9334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0.9925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65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ADASYN (XGBoost)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2.2085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0.9968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3.5771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0.9939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65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Random Forest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3.5449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0.9886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3.5864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0.9887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3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LightGBM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4.5246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0.9902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  <a:tr h="309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Transformer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-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8.6406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cap="none" strike="noStrike"/>
                      </a:pPr>
                      <a:r>
                        <a:rPr lang="en-IN" sz="1200">
                          <a:solidFill>
                            <a:schemeClr val="dk1"/>
                          </a:solidFill>
                        </a:rPr>
                        <a:t>0.9346</a:t>
                      </a:r>
                      <a:endParaRPr sz="12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1034" name="Google Shape;1034;p1"/>
          <p:cNvSpPr txBox="1"/>
          <p:nvPr/>
        </p:nvSpPr>
        <p:spPr>
          <a:xfrm>
            <a:off x="6359824" y="1099323"/>
            <a:ext cx="54153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RMSE (Test): Best ~2.18, worst ~8.64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R² (Test): Best ~0.9977, lowest ~0.9346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Incorporates modern ML techniques (boosting, Transformer) and evaluates generalization more robustly.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1500-time-step rolling window and applies SMOTE for data balancing.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1296-31A0-2BB9-5B73-F2881BAD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494" y="0"/>
            <a:ext cx="10515600" cy="630912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Content Placeholder 4" descr="A red circle with text and stars&#10;&#10;Description automatically generated">
            <a:extLst>
              <a:ext uri="{FF2B5EF4-FFF2-40B4-BE49-F238E27FC236}">
                <a16:creationId xmlns:a16="http://schemas.microsoft.com/office/drawing/2014/main" id="{13A03818-BA1B-987F-19C0-D3E86EA97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077" y="0"/>
            <a:ext cx="976923" cy="9769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964CFD-D505-7A77-3D6F-C777A7D9CDFC}"/>
              </a:ext>
            </a:extLst>
          </p:cNvPr>
          <p:cNvSpPr txBox="1"/>
          <p:nvPr/>
        </p:nvSpPr>
        <p:spPr>
          <a:xfrm>
            <a:off x="208470" y="630912"/>
            <a:ext cx="11326484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tooltip="RMSE: 0.099 to 0.197 Base Report"/>
              </a:rPr>
              <a:t>1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A. Ahmed, S. Aziz, U.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Qidwai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Abd-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Alrazaq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Sheikh, “Performance of artificial intelligence models in estimating blood glucose level among diabetic patients using non-invasive wearable device data,”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Methods Programs Biomed. Update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3, p. 100094, 2023,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10.1016/j.cmpbup.2023.100094.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2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A. Prabha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“Non-invasive diabetes mellitus detection system using machine learning techniques,” in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11th Int. Conf. Cloud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Data Sci. Eng. (Confluence)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5" tooltip="RMSE:11.20 Diff Data"/>
              </a:rPr>
              <a:t>3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A. Hina and W. Saadeh, “A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noninvasive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glucose monitoring SoC based on single wavelength photoplethysmography,”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Biomed. Circuits Syst.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3, pp. 504–515, 2020.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6" tooltip="RMSE: 0.57-2.5 Diff Data"/>
              </a:rPr>
              <a:t>4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X. Zhou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“Joint empirical mode decomposition and singular spectrum analysis based pre-processing method for wearable non-invasive blood glucose estimation,” in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4th Int. Conf. Signal Image Process. (ICSIP)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5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Z. Li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“Wearable non-invasive blood glucose estimation via empirical mode decomposition based hierarchical multiresolution analysis and random forest,” in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IEEE 23rd Int. Conf. Digital Signal Process. (DSP)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8" tooltip="RMSE:0.357 Diff Dataset"/>
              </a:rPr>
              <a:t>6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B. Bent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“Non-invasive wearables for remote monitoring of HbA1c and glucose variability: proof of concept,”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BMJ Open Diabetes Res. Care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1, p. e002027, 2021.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7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Rghioui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“A smart glucose monitoring system for diabetic patient,”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4, p. 678, 2020.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tooltip="RMSE: 25.621, 2.285  Diff Dataset"/>
              </a:rPr>
              <a:t>8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G.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Alfian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“A personalized healthcare monitoring system for diabetic patients by utilizing BLE-based sensors and real-time data processing,”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no. 7, p. 2183, 2018.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 tooltip="RMSE:13.57 Diff Dataset"/>
              </a:rPr>
              <a:t>9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A. M. Joshi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iGLU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2.0: a new wearable for accurate non-invasive continuous serum glucose measurement in IoMT framework,”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Electron.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66, no. 4, pp. 327–335, 2020.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446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2"/>
          <p:cNvSpPr txBox="1"/>
          <p:nvPr>
            <p:ph type="title"/>
          </p:nvPr>
        </p:nvSpPr>
        <p:spPr>
          <a:xfrm>
            <a:off x="346494" y="0"/>
            <a:ext cx="105156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pic>
        <p:nvPicPr>
          <p:cNvPr descr="A red circle with text and stars&#10;&#10;Description automatically generated" id="1037" name="Google Shape;103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15077" y="0"/>
            <a:ext cx="976923" cy="976923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2"/>
          <p:cNvSpPr txBox="1"/>
          <p:nvPr/>
        </p:nvSpPr>
        <p:spPr>
          <a:xfrm>
            <a:off x="208470" y="630912"/>
            <a:ext cx="113265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10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N. Kascheev </a:t>
            </a:r>
            <a:r>
              <a:rPr i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., “Non-invasive monitoring of blood glucose by means of wearable tracking technology,” in </a:t>
            </a:r>
            <a:r>
              <a:rPr i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IEEE East-West Design &amp; Test Symp. (EWDTS)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2017.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11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N. Kularathne </a:t>
            </a:r>
            <a:r>
              <a:rPr i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., “Dia-Shoe: a smart diabetic shoe to monitor and prevent diabetic foot ulcers,” in </a:t>
            </a:r>
            <a:r>
              <a:rPr i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Int. Conf. Adv. Comput. (ICAC)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2019.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12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M. Sevil </a:t>
            </a:r>
            <a:r>
              <a:rPr i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., “Determining physical activity characteristics from wristband data for use in automated insulin delivery systems,” </a:t>
            </a:r>
            <a:r>
              <a:rPr i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Sens. J.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20, no. 21, pp. 12859–12870, 2020.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13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M. M. Islam and S. M. Manjur, “Design and implementation of a wearable system for non-invasive glucose level monitoring,” in </a:t>
            </a:r>
            <a:r>
              <a:rPr i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IEEE Int. Conf. Biomed. Eng., Comput. Inf. Technol. Health (BECITHCON)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2019.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Deepali Javale, Sharmishta Desai, "Dataset for People for their Blood Glucose Level with their Superficial body feature readings.", IEEE Dataport, July 7, 2021, doi:10.21227/c4pp-6347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0D3C-A15D-D40A-CD4B-2B275664C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8301" y="3074598"/>
            <a:ext cx="2415396" cy="569341"/>
          </a:xfrm>
        </p:spPr>
        <p:txBody>
          <a:bodyPr>
            <a:norm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F98E8-B76D-47D2-E0EB-F1A1E6252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5373" y="3925635"/>
            <a:ext cx="3201253" cy="992247"/>
          </a:xfrm>
        </p:spPr>
        <p:txBody>
          <a:bodyPr>
            <a:norm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2021UIC3504     LAKSHAY SHARMA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2021UIC3507     ASHISH CHANDELA</a:t>
            </a:r>
          </a:p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2021UIC3509              VANSH GOYAL</a:t>
            </a:r>
          </a:p>
          <a:p>
            <a:pPr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red circle with text and stars">
            <a:extLst>
              <a:ext uri="{FF2B5EF4-FFF2-40B4-BE49-F238E27FC236}">
                <a16:creationId xmlns:a16="http://schemas.microsoft.com/office/drawing/2014/main" id="{09ABAFD0-7C96-0BD7-7A49-073C3B66F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543" y="80701"/>
            <a:ext cx="1387148" cy="1387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A537BE-9617-71B4-9726-B40EDF3ED1F4}"/>
              </a:ext>
            </a:extLst>
          </p:cNvPr>
          <p:cNvSpPr txBox="1"/>
          <p:nvPr/>
        </p:nvSpPr>
        <p:spPr>
          <a:xfrm>
            <a:off x="5215383" y="6308312"/>
            <a:ext cx="1761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10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Term Review </a:t>
            </a:r>
          </a:p>
          <a:p>
            <a:r>
              <a:rPr lang="en-US" sz="10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ICICC23  B. Tech Project– II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071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