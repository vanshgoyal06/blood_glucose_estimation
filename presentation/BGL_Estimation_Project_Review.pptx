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 ·  ML PROJECT REVIEW  · 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Estimating Blood Glucose Level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Non-Invasive Wearable Data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history-aware CatBoost approach — an audited research prototype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21240" y="1371600"/>
            <a:ext cx="1371600" cy="1371600"/>
          </a:xfrm>
          <a:prstGeom prst="ellipse">
            <a:avLst/>
          </a:prstGeom>
          <a:solidFill>
            <a:srgbClr val="0B4C50"/>
          </a:solidFill>
          <a:ln/>
        </p:spPr>
      </p:sp>
      <p:pic>
        <p:nvPicPr>
          <p:cNvPr id="6" name="Image 0" descr="/home/claude/icons/heartb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4140" y="171450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744200" y="2880360"/>
            <a:ext cx="1051560" cy="1051560"/>
          </a:xfrm>
          <a:prstGeom prst="ellipse">
            <a:avLst/>
          </a:prstGeom>
          <a:solidFill>
            <a:srgbClr val="0B4C50"/>
          </a:solidFill>
          <a:ln/>
        </p:spPr>
      </p:sp>
      <p:pic>
        <p:nvPicPr>
          <p:cNvPr id="8" name="Image 1" descr="/home/claude/icons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7090" y="3143250"/>
            <a:ext cx="525780" cy="5257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509760" y="3703320"/>
            <a:ext cx="914400" cy="914400"/>
          </a:xfrm>
          <a:prstGeom prst="ellipse">
            <a:avLst/>
          </a:prstGeom>
          <a:solidFill>
            <a:srgbClr val="0B4C50"/>
          </a:solidFill>
          <a:ln/>
        </p:spPr>
      </p:sp>
      <p:pic>
        <p:nvPicPr>
          <p:cNvPr id="10" name="Image 2" descr="/home/claude/icons/tin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3931920"/>
            <a:ext cx="457200" cy="457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0749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B4C50"/>
          </a:solidFill>
          <a:ln/>
        </p:spPr>
      </p:sp>
      <p:pic>
        <p:nvPicPr>
          <p:cNvPr id="12" name="Image 3" descr="/home/claude/icons/warn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276088"/>
            <a:ext cx="384048" cy="38404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53312" y="52212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841248" y="5696712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glucose monitoring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389120" y="50749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B4C50"/>
          </a:solidFill>
          <a:ln/>
        </p:spPr>
      </p:sp>
      <p:pic>
        <p:nvPicPr>
          <p:cNvPr id="16" name="Image 4" descr="/home/claude/icons/bra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5276088"/>
            <a:ext cx="384048" cy="38404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102352" y="52212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18" name="Text 11"/>
          <p:cNvSpPr txBox="1"/>
          <p:nvPr/>
        </p:nvSpPr>
        <p:spPr>
          <a:xfrm>
            <a:off x="4590288" y="5696712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physiology + ML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8138160" y="50749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B4C50"/>
          </a:solidFill>
          <a:ln/>
        </p:spPr>
      </p:sp>
      <p:pic>
        <p:nvPicPr>
          <p:cNvPr id="20" name="Image 5" descr="/home/claude/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5276088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851392" y="52212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22" name="Text 14"/>
          <p:cNvSpPr txBox="1"/>
          <p:nvPr/>
        </p:nvSpPr>
        <p:spPr>
          <a:xfrm>
            <a:off x="8339328" y="5696712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under validation audit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wearable signals estimate blood glucose?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glucose monitoring is invasive — this project tests a non-invasive alternative.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537960" cy="1920240"/>
          </a:xfrm>
          <a:prstGeom prst="roundRect">
            <a:avLst>
              <a:gd name="adj" fmla="val 3810"/>
            </a:avLst>
          </a:prstGeom>
          <a:solidFill>
            <a:srgbClr val="EAF4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60807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diabetes monitor blood glucose level (BGL) with fingerstick tests or subcutaneous continuous glucose monitors (CGMs) — both require breaking the skin, repeatedly, for life.
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physiological signals already captured by consumer wearables (heart rate, SpO₂, blood pressure, temperature, sweating, shivering) estimate BGL well enough to reduce that burden?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6537960" cy="1691640"/>
          </a:xfrm>
          <a:prstGeom prst="roundRect">
            <a:avLst>
              <a:gd name="adj" fmla="val 4324"/>
            </a:avLst>
          </a:prstGeom>
          <a:solidFill>
            <a:srgbClr val="013A40"/>
          </a:solidFill>
          <a:ln/>
        </p:spPr>
      </p:sp>
      <p:pic>
        <p:nvPicPr>
          <p:cNvPr id="8" name="Image 0" descr="/home/claud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224528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5720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BGL non-invasively from wearable-derived physiological signals, using a history-aware machine learning model — and be rigorous about what the evidence actually supports.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360920" y="1874520"/>
            <a:ext cx="425196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/>
        </p:spPr>
      </p:sp>
      <p:sp>
        <p:nvSpPr>
          <p:cNvPr id="12" name="Shape 9"/>
          <p:cNvSpPr/>
          <p:nvPr/>
        </p:nvSpPr>
        <p:spPr>
          <a:xfrm>
            <a:off x="7589520" y="213055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icons/tin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229514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458200" y="2057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· SpO₂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458200" y="2468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sensor readings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60920" y="3291840"/>
            <a:ext cx="425196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/>
        </p:spPr>
      </p:sp>
      <p:sp>
        <p:nvSpPr>
          <p:cNvPr id="17" name="Shape 13"/>
          <p:cNvSpPr/>
          <p:nvPr/>
        </p:nvSpPr>
        <p:spPr>
          <a:xfrm>
            <a:off x="7589520" y="354787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icons/char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3712464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58200" y="3474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· Temp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3886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Systolic/diastolic BP, core temperature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360920" y="4709160"/>
            <a:ext cx="425196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/>
        </p:spPr>
      </p:sp>
      <p:sp>
        <p:nvSpPr>
          <p:cNvPr id="22" name="Shape 17"/>
          <p:cNvSpPr/>
          <p:nvPr/>
        </p:nvSpPr>
        <p:spPr>
          <a:xfrm>
            <a:off x="7589520" y="496519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/home/claude/icons/bol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5129784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458200" y="48920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Sweating · Shivering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458200" y="53035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 response indicators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 Estimation from Wearable Data  ·  ML Project Review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base paper proposed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et al., 2023 — Computer Methods and Programs in Biomedicine Update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AF4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approach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9377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participants (8 male, 5 female), diabetic + non-diabetic, ~16,800 readings from a CGM patch and a smart band.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SpO₂, systolic/diastolic BP, body temperature, sweating, shivering, diabetic status.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classical ML (SVR, Random Forest) + 2 deep learning (MLP, ANFIS), trained separately for “Young” and “Adult” age groups, 80/20 split.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0.099–0.197 across models and age groups — Random Forest best on RMSE, ANFIS best on MAE.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the paper itself raises: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should be treated with caution given only 13 participants.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87452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013A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our project extends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29400" y="2514600"/>
            <a:ext cx="502920" cy="502920"/>
          </a:xfrm>
          <a:prstGeom prst="ellipse">
            <a:avLst/>
          </a:prstGeom>
          <a:solidFill>
            <a:srgbClr val="0B4C50"/>
          </a:solidFill>
          <a:ln/>
        </p:spPr>
      </p:sp>
      <p:pic>
        <p:nvPicPr>
          <p:cNvPr id="11" name="Image 0" descr="/home/claude/icons/search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0" y="262890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296912" y="248716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audit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296912" y="278892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structural check for duplicates, uneven groups, and ambiguous input→output combinations.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29400" y="3383280"/>
            <a:ext cx="502920" cy="502920"/>
          </a:xfrm>
          <a:prstGeom prst="ellipse">
            <a:avLst/>
          </a:prstGeom>
          <a:solidFill>
            <a:srgbClr val="0B4C50"/>
          </a:solidFill>
          <a:ln/>
        </p:spPr>
      </p:sp>
      <p:pic>
        <p:nvPicPr>
          <p:cNvPr id="15" name="Image 1" descr="/home/claude/icons/layer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349758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296912" y="335584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features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296912" y="365760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physiological history instead of single point-in-time readings.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629400" y="4251960"/>
            <a:ext cx="502920" cy="502920"/>
          </a:xfrm>
          <a:prstGeom prst="ellipse">
            <a:avLst/>
          </a:prstGeom>
          <a:solidFill>
            <a:srgbClr val="0B4C50"/>
          </a:solidFill>
          <a:ln/>
        </p:spPr>
      </p:sp>
      <p:pic>
        <p:nvPicPr>
          <p:cNvPr id="19" name="Image 2" descr="/home/claude/icons/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436626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296912" y="422452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History-aware model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7296912" y="452628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trained on 250-observation rolling context.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629400" y="5120640"/>
            <a:ext cx="502920" cy="502920"/>
          </a:xfrm>
          <a:prstGeom prst="ellipse">
            <a:avLst/>
          </a:prstGeom>
          <a:solidFill>
            <a:srgbClr val="0B4C50"/>
          </a:solidFill>
          <a:ln/>
        </p:spPr>
      </p:sp>
      <p:pic>
        <p:nvPicPr>
          <p:cNvPr id="23" name="Image 3" descr="/home/claude/icons/clipbo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523494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96912" y="509320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audit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7296912" y="53949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search for leakage and honest participant-level generalization testing.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 Estimation from Wearable Data  ·  ML Project Review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actually doing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 and data family as the base paper — a different, more historical and more audited pipeline.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EA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440180" y="23317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icons/databas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5346" y="2516886"/>
            <a:ext cx="452628" cy="4526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" y="3291840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7490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16,969 rows of wearable + BGL readings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136392" y="3108960"/>
            <a:ext cx="292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10712" y="210312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EAF4F4"/>
          </a:solidFill>
          <a:ln/>
        </p:spPr>
      </p:sp>
      <p:sp>
        <p:nvSpPr>
          <p:cNvPr id="12" name="Shape 9"/>
          <p:cNvSpPr/>
          <p:nvPr/>
        </p:nvSpPr>
        <p:spPr>
          <a:xfrm>
            <a:off x="4302252" y="23317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icons/cog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418" y="2516886"/>
            <a:ext cx="452628" cy="45262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20440" y="3291840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engineer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3547872" y="37490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Dedupe, encode, build rolling history features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5998464" y="3108960"/>
            <a:ext cx="292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272784" y="210312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EAF4F4"/>
          </a:solidFill>
          <a:ln/>
        </p:spPr>
      </p:sp>
      <p:sp>
        <p:nvSpPr>
          <p:cNvPr id="18" name="Shape 14"/>
          <p:cNvSpPr/>
          <p:nvPr/>
        </p:nvSpPr>
        <p:spPr>
          <a:xfrm>
            <a:off x="7164324" y="23317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home/claude/icons/brain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490" y="2516886"/>
            <a:ext cx="452628" cy="45262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82512" y="3291840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model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6409944" y="37490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BGL from 250-reading physiological history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8860536" y="3108960"/>
            <a:ext cx="292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134856" y="210312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EAF4F4"/>
          </a:solidFill>
          <a:ln/>
        </p:spPr>
      </p:sp>
      <p:sp>
        <p:nvSpPr>
          <p:cNvPr id="24" name="Shape 19"/>
          <p:cNvSpPr/>
          <p:nvPr/>
        </p:nvSpPr>
        <p:spPr>
          <a:xfrm>
            <a:off x="10026396" y="23317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/home/claude/icons/clipboard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1562" y="2516886"/>
            <a:ext cx="452628" cy="45262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44584" y="3291840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results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9272016" y="37490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the score before trusting it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13A40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68680" y="507492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replaced a single wearable snapshot with a rolling window of recent physiological history, fed it to CatBoost, and then deliberately tried to break our own result with a leakage and generalization audit — before calling anything final.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 Estimation from Wearable Data  ·  ML Project Review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file to modeling table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wearable + BGL data, no explicit timestamp, heterogeneous across 13 age groups.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9659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16,969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334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5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cleaning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8745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19659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6334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8895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rows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18745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9659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16,697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334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 used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8895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dataset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89720" y="18745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26880" y="19659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26334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28895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participant/group proxy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space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6492240" cy="25146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1188720"/>
              </a:tblGrid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/ clinical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Diabetic/Non-Diabetic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Cardiovascular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Systolic &amp; Diastolic Blood Pressure, Heart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/ respiratory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Temperature, SPO₂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Sweating, Shivering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Glucose Level (BGL)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360920" y="3611880"/>
            <a:ext cx="4251960" cy="2880360"/>
          </a:xfrm>
          <a:prstGeom prst="roundRect">
            <a:avLst>
              <a:gd name="adj" fmla="val 2540"/>
            </a:avLst>
          </a:prstGeom>
          <a:solidFill>
            <a:srgbClr val="FBEEEA"/>
          </a:solidFill>
          <a:ln/>
        </p:spPr>
      </p:sp>
      <p:pic>
        <p:nvPicPr>
          <p:cNvPr id="24" name="Image 0" descr="/home/claude/icons/warning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794760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092440" y="38221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notes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7589520" y="425196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timestamp column — row order is the only sequence signal.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“Age” is used as a participant/group proxy, not a confirmed unique ID.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 describes a mix of real and synthetic records; non-diabetic BGL has limited variation.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missing values — no imputation was needed.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 Estimation from Wearable Data  ·  ML Project Review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Excel file to a model-ready table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stages: basic cleanup, then history-aware feature engineering.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CLEANUP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6771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Excel workbook and strip whitespace from column names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07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89504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remove 272 duplicate rows, then reset the index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29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511296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Diabetic/Non-Diabetic status: D → 1, N → 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51376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151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133088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required — the primary models are tree-based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92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HISTORY-AWARE FEATURES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9379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5 physiological variables (DBP, SBP, Heart Rate, Body Temp, SPO₂):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87452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013A40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0840" y="2084832"/>
            <a:ext cx="4572000" cy="502920"/>
          </a:xfrm>
          <a:prstGeom prst="roundRect">
            <a:avLst>
              <a:gd name="adj" fmla="val 12727"/>
            </a:avLst>
          </a:prstGeom>
          <a:solidFill>
            <a:srgbClr val="0B4C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03720" y="20848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shift(1) within group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0" y="256946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2734056"/>
            <a:ext cx="4572000" cy="502920"/>
          </a:xfrm>
          <a:prstGeom prst="roundRect">
            <a:avLst>
              <a:gd name="adj" fmla="val 12727"/>
            </a:avLst>
          </a:prstGeom>
          <a:solidFill>
            <a:srgbClr val="0B4C5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03720" y="273405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Age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321868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20840" y="3383280"/>
            <a:ext cx="4572000" cy="502920"/>
          </a:xfrm>
          <a:prstGeom prst="roundRect">
            <a:avLst>
              <a:gd name="adj" fmla="val 12727"/>
            </a:avLst>
          </a:prstGeom>
          <a:solidFill>
            <a:srgbClr val="0B4C5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03720" y="33832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rolling window = 250 (min_periods = 250)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78240" y="386791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20840" y="4032504"/>
            <a:ext cx="4572000" cy="502920"/>
          </a:xfrm>
          <a:prstGeom prst="roundRect">
            <a:avLst>
              <a:gd name="adj" fmla="val 12727"/>
            </a:avLst>
          </a:prstGeom>
          <a:solidFill>
            <a:srgbClr val="0B4C5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903720" y="403250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mean &amp; std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451713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20840" y="4681728"/>
            <a:ext cx="4572000" cy="502920"/>
          </a:xfrm>
          <a:prstGeom prst="roundRect">
            <a:avLst>
              <a:gd name="adj" fmla="val 12727"/>
            </a:avLst>
          </a:prstGeom>
          <a:solidFill>
            <a:srgbClr val="0B4C5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903720" y="46817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 rolling features per row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720840" y="542239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row is explicitly excluded from its own rolling window — audited and confirmed past-only.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 Estimation from Wearable Data  ·  ML Project Review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FINDINGS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identified in the dataset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issues surfaced during the audit — each shaped how we evaluate the model.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BEEE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icons/layer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77" y="2170557"/>
            <a:ext cx="276606" cy="27660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2057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distribution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624328"/>
            <a:ext cx="32552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are skewed unevenly across the 13 age groups, which can bias training and evaluation.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BEEEA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2057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icons/char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437" y="217055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66360" y="2057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BGL persistence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544568" y="2624328"/>
            <a:ext cx="32552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84.06% of consecutive readings are exactly identical to the previous one — a trivial “same as last time” guess is already very accurate.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8138160" y="187452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BEEEA"/>
          </a:solidFill>
          <a:ln/>
        </p:spPr>
      </p:sp>
      <p:sp>
        <p:nvSpPr>
          <p:cNvPr id="16" name="Shape 12"/>
          <p:cNvSpPr/>
          <p:nvPr/>
        </p:nvSpPr>
        <p:spPr>
          <a:xfrm>
            <a:off x="8321040" y="2057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icons/question_terraco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197" y="217055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961120" y="2057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combinations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8339328" y="2624328"/>
            <a:ext cx="32552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15,935 unique feature combinations, 177 (939 rows) map to more than one BGL value — identical inputs, different targets.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BEEEA"/>
          </a:solidFill>
          <a:ln/>
        </p:spPr>
      </p:sp>
      <p:sp>
        <p:nvSpPr>
          <p:cNvPr id="21" name="Shape 16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home/claude/icons/search_terracot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677" y="4227957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71600" y="4114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 unexplained blocks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749808" y="4681728"/>
            <a:ext cx="32552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order forms 701 contiguous blocks (by Age/status change); 83.6% hold a single BGL value and only 3 blocks reach 250 rows.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4343400" y="393192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BEEEA"/>
          </a:solidFill>
          <a:ln/>
        </p:spPr>
      </p:sp>
      <p:sp>
        <p:nvSpPr>
          <p:cNvPr id="26" name="Shape 20"/>
          <p:cNvSpPr/>
          <p:nvPr/>
        </p:nvSpPr>
        <p:spPr>
          <a:xfrm>
            <a:off x="4526280" y="4114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/home/claude/icons/users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437" y="4227957"/>
            <a:ext cx="276606" cy="27660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166360" y="4114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participant ID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4544568" y="4681728"/>
            <a:ext cx="32552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“Age” is used as a group proxy, but it is not independently confirmed to be a unique participant identifier.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8138160" y="393192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BEEEA"/>
          </a:solidFill>
          <a:ln/>
        </p:spPr>
      </p:sp>
      <p:sp>
        <p:nvSpPr>
          <p:cNvPr id="31" name="Shape 24"/>
          <p:cNvSpPr/>
          <p:nvPr/>
        </p:nvSpPr>
        <p:spPr>
          <a:xfrm>
            <a:off x="8321040" y="4114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5" descr="/home/claude/icons/database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197" y="4227957"/>
            <a:ext cx="276606" cy="27660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961120" y="4114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provenance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8339328" y="4681728"/>
            <a:ext cx="32552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describes a blend of real and synthetic records, with limited variation in non-diabetic BGL.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 Estimation from Wearable Data  ·  ML Project Review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RESPONSE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identified problems were addressed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steps taken before trusting any performance number.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EAF4F4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27228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389" y="2385441"/>
            <a:ext cx="276606" cy="27660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53312" y="200253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Past-only window verified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353312" y="2331720"/>
            <a:ext cx="4480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Model’s rolling Heart-Rate mean matched a manual past-only calculation exactly — the current row never leaks into its own features.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EAF4F4"/>
          </a:solidFill>
          <a:ln/>
        </p:spPr>
      </p:sp>
      <p:sp>
        <p:nvSpPr>
          <p:cNvPr id="11" name="Shape 8"/>
          <p:cNvSpPr/>
          <p:nvPr/>
        </p:nvSpPr>
        <p:spPr>
          <a:xfrm>
            <a:off x="6336792" y="227228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949" y="2385441"/>
            <a:ext cx="276606" cy="27660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76872" y="200253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BGL leakage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976872" y="2331720"/>
            <a:ext cx="4480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current nor previous BGL is used as an input to the primary rolling model.</a:t>
            </a:r>
            <a:endParaRPr lang="en-US" sz="1060" dirty="0"/>
          </a:p>
        </p:txBody>
      </p:sp>
      <p:sp>
        <p:nvSpPr>
          <p:cNvPr id="15" name="Shape 11"/>
          <p:cNvSpPr/>
          <p:nvPr/>
        </p:nvSpPr>
        <p:spPr>
          <a:xfrm>
            <a:off x="548640" y="328269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EAF4F4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" y="36804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89" y="379361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53312" y="3410712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baseline built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353312" y="3739896"/>
            <a:ext cx="4480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“same as last reading” model was scored, to contextualize every other result against it.</a:t>
            </a:r>
            <a:endParaRPr lang="en-US" sz="1060" dirty="0"/>
          </a:p>
        </p:txBody>
      </p:sp>
      <p:sp>
        <p:nvSpPr>
          <p:cNvPr id="20" name="Shape 15"/>
          <p:cNvSpPr/>
          <p:nvPr/>
        </p:nvSpPr>
        <p:spPr>
          <a:xfrm>
            <a:off x="6172200" y="328269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EAF4F4"/>
          </a:solidFill>
          <a:ln/>
        </p:spPr>
      </p:sp>
      <p:sp>
        <p:nvSpPr>
          <p:cNvPr id="21" name="Shape 16"/>
          <p:cNvSpPr/>
          <p:nvPr/>
        </p:nvSpPr>
        <p:spPr>
          <a:xfrm>
            <a:off x="6336792" y="36804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home/claude/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949" y="3793617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76872" y="3410712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Participant-level split built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976872" y="3739896"/>
            <a:ext cx="4480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disjoint train/validation/test split by Age-group was constructed, moving beyond the leakage-prone row-level split.</a:t>
            </a:r>
            <a:endParaRPr lang="en-US" sz="1060" dirty="0"/>
          </a:p>
        </p:txBody>
      </p:sp>
      <p:sp>
        <p:nvSpPr>
          <p:cNvPr id="25" name="Shape 19"/>
          <p:cNvSpPr/>
          <p:nvPr/>
        </p:nvSpPr>
        <p:spPr>
          <a:xfrm>
            <a:off x="548640" y="4690872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EAF4F4"/>
          </a:solidFill>
          <a:ln/>
        </p:spPr>
      </p:sp>
      <p:sp>
        <p:nvSpPr>
          <p:cNvPr id="26" name="Shape 20"/>
          <p:cNvSpPr/>
          <p:nvPr/>
        </p:nvSpPr>
        <p:spPr>
          <a:xfrm>
            <a:off x="713232" y="508863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/home/claude/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389" y="5201793"/>
            <a:ext cx="276606" cy="27660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53312" y="4818888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Block-overlap quantified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1353312" y="5148072"/>
            <a:ext cx="4480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exactly how much training data leaks into validation histories under the old split: 100% of validation rows affected.</a:t>
            </a:r>
            <a:endParaRPr lang="en-US" sz="1060" dirty="0"/>
          </a:p>
        </p:txBody>
      </p:sp>
      <p:sp>
        <p:nvSpPr>
          <p:cNvPr id="30" name="Shape 23"/>
          <p:cNvSpPr/>
          <p:nvPr/>
        </p:nvSpPr>
        <p:spPr>
          <a:xfrm>
            <a:off x="6172200" y="4690872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EAF4F4"/>
          </a:solidFill>
          <a:ln/>
        </p:spPr>
      </p:sp>
      <p:sp>
        <p:nvSpPr>
          <p:cNvPr id="31" name="Shape 24"/>
          <p:cNvSpPr/>
          <p:nvPr/>
        </p:nvSpPr>
        <p:spPr>
          <a:xfrm>
            <a:off x="6336792" y="508863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5" descr="/home/claude/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9949" y="5201793"/>
            <a:ext cx="276606" cy="27660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976872" y="4818888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length justified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6976872" y="5148072"/>
            <a:ext cx="4480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50/100/150/200/250-row windows and multiple models (RF, XGBoost, LightGBM, CatBoost) rather than picking one arbitrarily.</a:t>
            </a:r>
            <a:endParaRPr lang="en-US" sz="106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 Estimation from Wearable Data  ·  ML Project Review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problems are still unresolved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 before any generalization claim is made.</a:t>
            </a:r>
            <a:endParaRPr lang="en-US" sz="1500" dirty="0"/>
          </a:p>
        </p:txBody>
      </p:sp>
      <p:pic>
        <p:nvPicPr>
          <p:cNvPr id="5" name="Image 0" descr="/home/claude/icons/ques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280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181965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meaning of the 701 row-order blocks is still unknown (session? device run? data batch?).</a:t>
            </a:r>
            <a:endParaRPr lang="en-US" sz="1350" dirty="0"/>
          </a:p>
        </p:txBody>
      </p:sp>
      <p:pic>
        <p:nvPicPr>
          <p:cNvPr id="7" name="Image 1" descr="/home/claude/icons/ques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46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05840" y="244144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“Age” is truly a unique participant identifier remains unverified.</a:t>
            </a:r>
            <a:endParaRPr lang="en-US" sz="1350" dirty="0"/>
          </a:p>
        </p:txBody>
      </p:sp>
      <p:pic>
        <p:nvPicPr>
          <p:cNvPr id="9" name="Image 2" descr="/home/claude/icons/ques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3639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05840" y="30632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participant generalization is still weak: R² falls from 0.968 (legacy split) to 0.121 on an unseen validation group, recovering only to 0.414 on the unseen test group.</a:t>
            </a:r>
            <a:endParaRPr lang="en-US" sz="1350" dirty="0"/>
          </a:p>
        </p:txBody>
      </p:sp>
      <p:pic>
        <p:nvPicPr>
          <p:cNvPr id="11" name="Image 3" descr="/home/claude/icons/ques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58184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05840" y="368503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block/session-aware rolling-window reconstruction has been built yet.</a:t>
            </a:r>
            <a:endParaRPr lang="en-US" sz="1350" dirty="0"/>
          </a:p>
        </p:txBody>
      </p:sp>
      <p:pic>
        <p:nvPicPr>
          <p:cNvPr id="13" name="Image 4" descr="/home/claude/icons/questio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79976"/>
            <a:ext cx="274320" cy="27432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05840" y="4306824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or prospective dataset has been evaluated.</a:t>
            </a:r>
            <a:endParaRPr lang="en-US" sz="1350" dirty="0"/>
          </a:p>
        </p:txBody>
      </p:sp>
      <p:pic>
        <p:nvPicPr>
          <p:cNvPr id="15" name="Image 5" descr="/home/claude/icons/questio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001768"/>
            <a:ext cx="274320" cy="27432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05840" y="492861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uncertainty or calibration estimate accompanies predictions yet.</a:t>
            </a:r>
            <a:endParaRPr lang="en-US" sz="1350" dirty="0"/>
          </a:p>
        </p:txBody>
      </p:sp>
      <p:pic>
        <p:nvPicPr>
          <p:cNvPr id="17" name="Image 6" descr="/home/claude/icons/question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623560"/>
            <a:ext cx="274320" cy="27432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005840" y="55504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a research prototype — not clinically or regulatorily validated.</a:t>
            </a:r>
            <a:endParaRPr lang="en-US" sz="1350" dirty="0"/>
          </a:p>
        </p:txBody>
      </p:sp>
      <p:sp>
        <p:nvSpPr>
          <p:cNvPr id="19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 Estimation from Wearable Data  ·  ML Project Review</a:t>
            </a:r>
            <a:endParaRPr lang="en-US" sz="900" dirty="0"/>
          </a:p>
        </p:txBody>
      </p:sp>
      <p:sp>
        <p:nvSpPr>
          <p:cNvPr id="20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1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 Estimation from Wearable Data  ·  ML Project Review</a:t>
            </a:r>
            <a:endParaRPr lang="en-US" sz="900" dirty="0"/>
          </a:p>
        </p:txBody>
      </p:sp>
      <p:sp>
        <p:nvSpPr>
          <p:cNvPr id="22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CatBoost, and why we chose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gradient-boosted decision-tree algorithm, picked after head-to-head comparison.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AF4F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icons/cog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2247138"/>
            <a:ext cx="352044" cy="3520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CatBoost is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gradient-boosting algorithm that builds an ensemble of decision trees, in the same family as XGBoost and LightGBM.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“ordered boosting”, which reduces the target leakage and overfitting that gradient boosting is prone to on small/medium tabular data.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categorical features (like Diabetic/Non-Diabetic status) natively, without manual one-hot encoding.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results with less manual tuning than comparable boosting libraries.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8745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013A40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0B4C50"/>
          </a:solidFill>
          <a:ln/>
        </p:spPr>
      </p:sp>
      <p:pic>
        <p:nvPicPr>
          <p:cNvPr id="12" name="Image 1" descr="/home/claude/icons/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258" y="224713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6948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chosen here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88036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Directly compared against Random Forest, XGBoost and LightGBM on the same features — CatBoost gave the best validation error of the four.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dataset is small (13 groups, ~16.7k rows) and includes a categorical clinical flag — exactly where CatBoost’s strengths apply.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stayed the top performer at every rolling-history window length tested (50 through 250 rows).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 Estimation from Wearable Data  ·  ML Project Review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 performance across different situations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model, evaluated four different ways — the numbers tell different stories.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114800"/>
        </p:xfrm>
        <a:graphic>
          <a:graphicData uri="http://schemas.openxmlformats.org/drawingml/2006/table">
            <a:tbl>
              <a:tblPr/>
              <a:tblGrid>
                <a:gridCol w="2331720"/>
                <a:gridCol w="1051560"/>
                <a:gridCol w="1051560"/>
                <a:gridCol w="914400"/>
                <a:gridCol w="57150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(“same as last reading”)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dataset itself is highly persistent — the bar any real model must clear.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250-row CatBoost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(legacy row-level split)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reported benchmark — strong, but on a split that isn’t participant-independent.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Participant-level audit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(unseen validation group)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 generalization check — performance drops sharply on a truly unseen group.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Participant-level audit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(unseen test group)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recovery, still well short of the legacy-split number.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high/normal-BGL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(regime-aware variant)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9.48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(0.31 on high-BGL subset)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1.90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0.954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on rare high-BGL cases, but slightly behind the single model overall.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the row-level R² of 0.968 is real, but most of it overlaps with the dataset’s own persistence — the participant-level numbers are the ones that matter for generalization.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 Estimation from Wearable Data  ·  ML Project Review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next steps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methodology before optimizing the model any further.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AF4F4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06654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066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93392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block meaning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1993392"/>
            <a:ext cx="6309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what the 701 row-order blocks actually represent — session, device run, or batch.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926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852928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history boundaries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852928"/>
            <a:ext cx="6309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justified, reconstruct rolling windows using block/session-aware boundaries instead of Age alone.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548640" y="363931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AF4F4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378561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712464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at participant level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3712464"/>
            <a:ext cx="6309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participant/session-level evaluation the standard, not a side audit.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48640" y="449884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64515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4645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572000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Re-tune under the corrected protocol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074920" y="4572000"/>
            <a:ext cx="6309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Re-select window length and model configuration once the evaluation design is trustworthy.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548640" y="535838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A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55046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5431536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and test once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5431536"/>
            <a:ext cx="6309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6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methodology, then evaluate the untouched test set a single time.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 Estimation from Wearable Data  ·  ML Project Review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Ultimate vision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once generalization is actually proven.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0B4C5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079" y="2276399"/>
            <a:ext cx="311810" cy="311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44752" y="21305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strategy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444752" y="249631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for brand-new participants who lack the 250-reading history, using population-level priors.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0B4C50"/>
          </a:solidFill>
          <a:ln/>
        </p:spPr>
      </p:sp>
      <p:sp>
        <p:nvSpPr>
          <p:cNvPr id="11" name="Shape 8"/>
          <p:cNvSpPr/>
          <p:nvPr/>
        </p:nvSpPr>
        <p:spPr>
          <a:xfrm>
            <a:off x="6355080" y="21488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icons/heartbea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639" y="2276399"/>
            <a:ext cx="311810" cy="31181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8312" y="21305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7068312" y="249631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the model to each individual’s physiological baseline as their history accumulates.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548640" y="3547872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0B4C50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373075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9" y="3858311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44752" y="371246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&amp; calibration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1444752" y="4078224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confidence range with every estimate, not just a single number.</a:t>
            </a:r>
            <a:endParaRPr lang="en-US" sz="1130" dirty="0"/>
          </a:p>
        </p:txBody>
      </p:sp>
      <p:sp>
        <p:nvSpPr>
          <p:cNvPr id="20" name="Shape 15"/>
          <p:cNvSpPr/>
          <p:nvPr/>
        </p:nvSpPr>
        <p:spPr>
          <a:xfrm>
            <a:off x="6172200" y="3547872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0B4C50"/>
          </a:solidFill>
          <a:ln/>
        </p:spPr>
      </p:sp>
      <p:sp>
        <p:nvSpPr>
          <p:cNvPr id="21" name="Shape 16"/>
          <p:cNvSpPr/>
          <p:nvPr/>
        </p:nvSpPr>
        <p:spPr>
          <a:xfrm>
            <a:off x="6355080" y="373075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icons/search_terracot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639" y="3858311"/>
            <a:ext cx="311810" cy="31181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68312" y="371246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7068312" y="4078224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independently collected wearable data before any clinical claim is made.</a:t>
            </a:r>
            <a:endParaRPr lang="en-US" sz="1130" dirty="0"/>
          </a:p>
        </p:txBody>
      </p:sp>
      <p:sp>
        <p:nvSpPr>
          <p:cNvPr id="25" name="Shape 19"/>
          <p:cNvSpPr/>
          <p:nvPr/>
        </p:nvSpPr>
        <p:spPr>
          <a:xfrm>
            <a:off x="548640" y="56235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22960" y="5623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goal: a continuously-updating, non-invasive BGL estimate running on consumer wearable hardware — an assistive monitoring signal, not a replacement for CGMs or fingersticks, until formally validated.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2026-09-06T18:13:25Z</dcterms:created>
  <dcterms:modified xsi:type="dcterms:W3CDTF">2026-09-06T18:13:25Z</dcterms:modified>
</cp:coreProperties>
</file>