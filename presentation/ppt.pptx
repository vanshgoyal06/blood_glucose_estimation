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sldIdLst>
    <p:sldId id="256" r:id="rId2"/>
    <p:sldId id="274" r:id="rId3"/>
    <p:sldId id="273" r:id="rId4"/>
    <p:sldId id="282" r:id="rId5"/>
    <p:sldId id="284" r:id="rId6"/>
    <p:sldId id="283" r:id="rId7"/>
    <p:sldId id="289" r:id="rId8"/>
    <p:sldId id="288" r:id="rId9"/>
    <p:sldId id="278" r:id="rId10"/>
    <p:sldId id="262" r:id="rId11"/>
    <p:sldId id="277" r:id="rId12"/>
    <p:sldId id="276" r:id="rId13"/>
    <p:sldId id="281" r:id="rId14"/>
    <p:sldId id="287" r:id="rId15"/>
    <p:sldId id="275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D96F22-08B9-3AD1-0193-21569DD53E7C}" name="Vansh Goyal" initials="VG" userId="1e13bfdcb168c3e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F99"/>
    <a:srgbClr val="AAE6EE"/>
    <a:srgbClr val="562B5B"/>
    <a:srgbClr val="BEB5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5D8C8D-3C95-4E67-B154-8CB50A29E24E}">
  <a:tblStyle styleId="{4C5D8C8D-3C95-4E67-B154-8CB50A29E24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42C6F1-CE41-40F7-ABC3-D4AFC5FD5BC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>
        <p:scale>
          <a:sx n="76" d="100"/>
          <a:sy n="76" d="100"/>
        </p:scale>
        <p:origin x="288" y="-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71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226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492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837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86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20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12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54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20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2709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676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022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78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932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145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3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806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2DF42EB-9442-41C0-B8B6-6555D8093707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7581466-BDD0-4152-A601-31B5BAFC7CE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46BC89-6FFC-9ADB-43A5-CD038E8F033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989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Business</a:t>
            </a:r>
          </a:p>
        </p:txBody>
      </p:sp>
    </p:spTree>
    <p:extLst>
      <p:ext uri="{BB962C8B-B14F-4D97-AF65-F5344CB8AC3E}">
        <p14:creationId xmlns:p14="http://schemas.microsoft.com/office/powerpoint/2010/main" val="262056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B0D3C-A15D-D40A-CD4B-2B275664C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210" y="2073810"/>
            <a:ext cx="9455579" cy="1922118"/>
          </a:xfrm>
        </p:spPr>
        <p:txBody>
          <a:bodyPr>
            <a:normAutofit/>
          </a:bodyPr>
          <a:lstStyle/>
          <a:p>
            <a:r>
              <a:rPr lang="en-US" sz="40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Estimating blood glucose level using non-invasive wearable device data </a:t>
            </a:r>
          </a:p>
        </p:txBody>
      </p:sp>
    </p:spTree>
    <p:extLst>
      <p:ext uri="{BB962C8B-B14F-4D97-AF65-F5344CB8AC3E}">
        <p14:creationId xmlns:p14="http://schemas.microsoft.com/office/powerpoint/2010/main" val="55560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9778-1A16-1FAA-345B-D9202B81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A61C-E2BF-FA3A-8F6B-59A866488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the project about</a:t>
            </a:r>
          </a:p>
          <a:p>
            <a:r>
              <a:rPr lang="en-IN" dirty="0"/>
              <a:t>All about Dataset</a:t>
            </a:r>
          </a:p>
          <a:p>
            <a:r>
              <a:rPr lang="en-IN" dirty="0"/>
              <a:t>How the data was processed</a:t>
            </a:r>
          </a:p>
          <a:p>
            <a:r>
              <a:rPr lang="en-IN" dirty="0"/>
              <a:t>Machine learning </a:t>
            </a:r>
            <a:r>
              <a:rPr lang="en-IN"/>
              <a:t>pipeline architecture</a:t>
            </a:r>
            <a:endParaRPr lang="en-IN" dirty="0"/>
          </a:p>
          <a:p>
            <a:r>
              <a:rPr lang="en-IN" dirty="0"/>
              <a:t>Results and outcomes</a:t>
            </a:r>
          </a:p>
          <a:p>
            <a:r>
              <a:rPr lang="en-IN" dirty="0"/>
              <a:t>Limitations</a:t>
            </a:r>
          </a:p>
          <a:p>
            <a:r>
              <a:rPr lang="en-IN" dirty="0"/>
              <a:t>Future work to be done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50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20CE76-2CD5-01E2-FCCC-AAC96E7EF82A}"/>
              </a:ext>
            </a:extLst>
          </p:cNvPr>
          <p:cNvSpPr txBox="1"/>
          <p:nvPr/>
        </p:nvSpPr>
        <p:spPr>
          <a:xfrm>
            <a:off x="603504" y="2633436"/>
            <a:ext cx="100012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Approximately </a:t>
            </a:r>
            <a:r>
              <a:rPr lang="en-US" sz="2000" b="1" dirty="0"/>
              <a:t>589 to 590 million adults</a:t>
            </a:r>
            <a:r>
              <a:rPr lang="en-US" sz="2000" dirty="0"/>
              <a:t> (aged 20–79) worldwide are living with </a:t>
            </a:r>
            <a:r>
              <a:rPr lang="en-US" sz="2000" b="1" dirty="0"/>
              <a:t>diabetes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80%</a:t>
            </a:r>
            <a:r>
              <a:rPr lang="en-IN" sz="2000" dirty="0"/>
              <a:t> of diabetic patients perform painful </a:t>
            </a:r>
            <a:r>
              <a:rPr lang="en-IN" sz="2000" b="1" dirty="0"/>
              <a:t>finger-prick</a:t>
            </a:r>
            <a:r>
              <a:rPr lang="en-IN" sz="2000" dirty="0"/>
              <a:t> tests </a:t>
            </a:r>
            <a:r>
              <a:rPr lang="en-IN" sz="2000" b="1" dirty="0"/>
              <a:t>up to 5 times </a:t>
            </a:r>
            <a:r>
              <a:rPr lang="en-IN" sz="2000" dirty="0"/>
              <a:t>daily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CGMs </a:t>
            </a:r>
            <a:r>
              <a:rPr lang="en-IN" sz="2000" dirty="0"/>
              <a:t>are great alternatives but involves a minimal pricking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This  project involves using data from </a:t>
            </a:r>
            <a:r>
              <a:rPr lang="en-IN" sz="2000" b="1" dirty="0"/>
              <a:t>smartwatches</a:t>
            </a:r>
            <a:r>
              <a:rPr lang="en-IN" sz="2000" dirty="0"/>
              <a:t> and </a:t>
            </a:r>
            <a:r>
              <a:rPr lang="en-IN" sz="2000" b="1" dirty="0"/>
              <a:t>fit bands</a:t>
            </a:r>
            <a:r>
              <a:rPr lang="en-IN" sz="2000" dirty="0"/>
              <a:t> to  estimate the </a:t>
            </a:r>
            <a:r>
              <a:rPr lang="en-IN" sz="2000" b="1" dirty="0"/>
              <a:t>BGL</a:t>
            </a:r>
          </a:p>
          <a:p>
            <a:endParaRPr lang="en-IN" sz="2000" b="1" dirty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69D46A-1514-ED78-D491-5BC2542A1EF6}"/>
              </a:ext>
            </a:extLst>
          </p:cNvPr>
          <p:cNvSpPr txBox="1"/>
          <p:nvPr/>
        </p:nvSpPr>
        <p:spPr>
          <a:xfrm>
            <a:off x="603504" y="859536"/>
            <a:ext cx="65013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What is the project about</a:t>
            </a:r>
          </a:p>
        </p:txBody>
      </p:sp>
    </p:spTree>
    <p:extLst>
      <p:ext uri="{BB962C8B-B14F-4D97-AF65-F5344CB8AC3E}">
        <p14:creationId xmlns:p14="http://schemas.microsoft.com/office/powerpoint/2010/main" val="3910577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1DF5-748B-ABEF-2763-D7667150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All about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61C08-BD9A-D459-2030-B7C8F075F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174"/>
          <a:stretch/>
        </p:blipFill>
        <p:spPr>
          <a:xfrm>
            <a:off x="731519" y="2319533"/>
            <a:ext cx="8761413" cy="441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2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1DF5-748B-ABEF-2763-D7667150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All about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00E9CD-C462-9D04-4CE4-DABE1130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200"/>
          <a:stretch/>
        </p:blipFill>
        <p:spPr>
          <a:xfrm>
            <a:off x="793680" y="2642616"/>
            <a:ext cx="10771880" cy="262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4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1DF5-748B-ABEF-2763-D7667150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/>
              <a:t>All about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3C44F6-8893-12AF-C715-B49B33C8B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69" y="2344273"/>
            <a:ext cx="5094431" cy="430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64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7948-CCBC-7111-080A-6BEE9458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</a:t>
            </a:r>
            <a:r>
              <a:rPr lang="en-IN" dirty="0" err="1"/>
              <a:t>anlaysis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8876E-463D-BBDF-154D-23E404D00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Total Records:</a:t>
            </a:r>
            <a:r>
              <a:rPr lang="en-IN" dirty="0"/>
              <a:t> 16,969 rows across 10 features.</a:t>
            </a:r>
          </a:p>
          <a:p>
            <a:pPr lvl="0"/>
            <a:r>
              <a:rPr lang="en-IN" b="1" dirty="0"/>
              <a:t>Missing Values:</a:t>
            </a:r>
            <a:r>
              <a:rPr lang="en-IN" dirty="0"/>
              <a:t> 0 null values across all columns.</a:t>
            </a:r>
          </a:p>
          <a:p>
            <a:pPr lvl="0"/>
            <a:r>
              <a:rPr lang="en-IN" b="1" dirty="0"/>
              <a:t>Duplicate Records:</a:t>
            </a:r>
            <a:r>
              <a:rPr lang="en-IN" dirty="0"/>
              <a:t> 272 duplicate rows present in the dataset.</a:t>
            </a:r>
          </a:p>
          <a:p>
            <a:pPr lvl="0"/>
            <a:r>
              <a:rPr lang="en-IN" b="1" dirty="0"/>
              <a:t>Target Variable Imbalance:</a:t>
            </a:r>
            <a:r>
              <a:rPr lang="en-IN" dirty="0"/>
              <a:t> Extreme class imbalance in Diabetic/Non Diabetic (D/N):</a:t>
            </a:r>
          </a:p>
          <a:p>
            <a:pPr lvl="1"/>
            <a:r>
              <a:rPr lang="en-IN" b="1" dirty="0"/>
              <a:t>Diabetic (D):</a:t>
            </a:r>
            <a:r>
              <a:rPr lang="en-IN" dirty="0"/>
              <a:t> 16,641 records (</a:t>
            </a:r>
            <a:r>
              <a:rPr lang="en-IN" b="1" dirty="0"/>
              <a:t>98.07%</a:t>
            </a:r>
            <a:r>
              <a:rPr lang="en-IN" dirty="0"/>
              <a:t>)</a:t>
            </a:r>
          </a:p>
          <a:p>
            <a:pPr lvl="1"/>
            <a:r>
              <a:rPr lang="en-IN" b="1" dirty="0"/>
              <a:t>Non-Diabetic (N):</a:t>
            </a:r>
            <a:r>
              <a:rPr lang="en-IN" dirty="0"/>
              <a:t> 328 records (</a:t>
            </a:r>
            <a:r>
              <a:rPr lang="en-IN" b="1" dirty="0"/>
              <a:t>1.93%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580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06729-7CA2-A4CC-977C-4DD9C216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with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3BA7C-35B0-841D-5563-406F9066F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is an high imbalance in data points across age some ages like 9 have around 6000 data points but ages such as 36 ,51 and 66 have less than 50 points</a:t>
            </a:r>
          </a:p>
          <a:p>
            <a:r>
              <a:rPr lang="en-IN" dirty="0"/>
              <a:t>The blood glucose  readings are not continuous they are divided into two regimes BGL&lt;130 and BGL 240-250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1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824"/>
            <a:ext cx="10515600" cy="709127"/>
          </a:xfrm>
        </p:spPr>
        <p:txBody>
          <a:bodyPr>
            <a:normAutofit/>
          </a:bodyPr>
          <a:lstStyle/>
          <a:p>
            <a:r>
              <a:rPr lang="en-IN" sz="2800" b="1" dirty="0"/>
              <a:t>How the data was pre-processed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FEB6D81-1003-6729-6816-DE1262789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4764" y="2406688"/>
            <a:ext cx="11142980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Cleaning: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Loaded raw healthcare dataset and drop-duplicated 253 identical patient entries (16,969 to 16,715 unique rows).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Type Conversion &amp; Binary Mapping: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Converted vital health metrics to numeric types and mapped target categories into binary format (0 = Non-Diabetic, 1 = Diabetic).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 Engineering: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Created rolling window metrics (window size = 1,500) calculating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rolling mean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rolling standard deviation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across core vital signs.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Imbalance Handling: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Handled severe class imbalance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SMOTE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ADASYN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oversampling techniques, as well as Random Under sampling experiments.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Splitting: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Divided the processed dataset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80% Training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10% Validation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10% Testing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splits.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Feature Normalization: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Scaled features using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StandardScaler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fitted strictly on training data to prevent data leakage across validation and test sets. </a:t>
            </a:r>
          </a:p>
        </p:txBody>
      </p:sp>
    </p:spTree>
    <p:extLst>
      <p:ext uri="{BB962C8B-B14F-4D97-AF65-F5344CB8AC3E}">
        <p14:creationId xmlns:p14="http://schemas.microsoft.com/office/powerpoint/2010/main" val="105827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1296-31A0-2BB9-5B73-F2881BAD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3339"/>
            <a:ext cx="10515600" cy="63091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achine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pipeline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995C89-D6C7-67A1-2483-FF8048FD0DA8}"/>
              </a:ext>
            </a:extLst>
          </p:cNvPr>
          <p:cNvSpPr txBox="1"/>
          <p:nvPr/>
        </p:nvSpPr>
        <p:spPr>
          <a:xfrm>
            <a:off x="2103120" y="2999232"/>
            <a:ext cx="1700784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sz="8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0932F7A-1134-286B-0250-E4644E42F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BE8A054-8B84-88C0-AD53-0E2F38669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957DFFE-BC5E-2D5D-C1CF-5CABFFE7D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31" y="2380105"/>
            <a:ext cx="11348338" cy="396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632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"/>
          <p:cNvSpPr txBox="1">
            <a:spLocks noGrp="1"/>
          </p:cNvSpPr>
          <p:nvPr>
            <p:ph type="title"/>
          </p:nvPr>
        </p:nvSpPr>
        <p:spPr>
          <a:xfrm>
            <a:off x="838200" y="777240"/>
            <a:ext cx="10515600" cy="5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600" dirty="0">
                <a:latin typeface="Times New Roman"/>
                <a:ea typeface="Times New Roman"/>
                <a:cs typeface="Times New Roman"/>
                <a:sym typeface="Times New Roman"/>
              </a:rPr>
              <a:t>Result/Outcomes</a:t>
            </a:r>
            <a:endParaRPr lang="en-IN" sz="6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4A6E3A0-B890-52A8-CFD3-91B45EE91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237968"/>
              </p:ext>
            </p:extLst>
          </p:nvPr>
        </p:nvGraphicFramePr>
        <p:xfrm>
          <a:off x="838200" y="2448050"/>
          <a:ext cx="9915144" cy="4217859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652524">
                  <a:extLst>
                    <a:ext uri="{9D8B030D-6E8A-4147-A177-3AD203B41FA5}">
                      <a16:colId xmlns:a16="http://schemas.microsoft.com/office/drawing/2014/main" val="582184175"/>
                    </a:ext>
                  </a:extLst>
                </a:gridCol>
                <a:gridCol w="1652524">
                  <a:extLst>
                    <a:ext uri="{9D8B030D-6E8A-4147-A177-3AD203B41FA5}">
                      <a16:colId xmlns:a16="http://schemas.microsoft.com/office/drawing/2014/main" val="642859783"/>
                    </a:ext>
                  </a:extLst>
                </a:gridCol>
                <a:gridCol w="1652524">
                  <a:extLst>
                    <a:ext uri="{9D8B030D-6E8A-4147-A177-3AD203B41FA5}">
                      <a16:colId xmlns:a16="http://schemas.microsoft.com/office/drawing/2014/main" val="499850473"/>
                    </a:ext>
                  </a:extLst>
                </a:gridCol>
                <a:gridCol w="1652524">
                  <a:extLst>
                    <a:ext uri="{9D8B030D-6E8A-4147-A177-3AD203B41FA5}">
                      <a16:colId xmlns:a16="http://schemas.microsoft.com/office/drawing/2014/main" val="58531831"/>
                    </a:ext>
                  </a:extLst>
                </a:gridCol>
                <a:gridCol w="1652524">
                  <a:extLst>
                    <a:ext uri="{9D8B030D-6E8A-4147-A177-3AD203B41FA5}">
                      <a16:colId xmlns:a16="http://schemas.microsoft.com/office/drawing/2014/main" val="1870726430"/>
                    </a:ext>
                  </a:extLst>
                </a:gridCol>
                <a:gridCol w="1652524">
                  <a:extLst>
                    <a:ext uri="{9D8B030D-6E8A-4147-A177-3AD203B41FA5}">
                      <a16:colId xmlns:a16="http://schemas.microsoft.com/office/drawing/2014/main" val="652308163"/>
                    </a:ext>
                  </a:extLst>
                </a:gridCol>
              </a:tblGrid>
              <a:tr h="807133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Model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Sampling / Resampling Strategy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Validation RMSE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Validation R2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Test RMSE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Test R2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3800402476"/>
                  </a:ext>
                </a:extLst>
              </a:tr>
              <a:tr h="329668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CatBoost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None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3.0904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0.9938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2.1802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0.9977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4144186495"/>
                  </a:ext>
                </a:extLst>
              </a:tr>
              <a:tr h="338476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CatBoost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SMOTE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2.6724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0.9935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2.8194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0.9930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3875127417"/>
                  </a:ext>
                </a:extLst>
              </a:tr>
              <a:tr h="338476">
                <a:tc>
                  <a:txBody>
                    <a:bodyPr/>
                    <a:lstStyle/>
                    <a:p>
                      <a:pPr rtl="0"/>
                      <a:r>
                        <a:rPr lang="en-IN" sz="1600" b="1" dirty="0" err="1">
                          <a:solidFill>
                            <a:srgbClr val="1F1F1F"/>
                          </a:solidFill>
                          <a:effectLst/>
                        </a:rPr>
                        <a:t>CatBoost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ADASYN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2.0988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0.9971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2.7074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0.9965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2889259544"/>
                  </a:ext>
                </a:extLst>
              </a:tr>
              <a:tr h="338476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LightGBM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None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—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—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4.5246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0.9902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1814934848"/>
                  </a:ext>
                </a:extLst>
              </a:tr>
              <a:tr h="338476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XGBoost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SMOTE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2.4887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0.9944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3.1013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0.9916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328361651"/>
                  </a:ext>
                </a:extLst>
              </a:tr>
              <a:tr h="338476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XGBoost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ADASYN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2.6898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0.9953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3.8396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0.9929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2286372543"/>
                  </a:ext>
                </a:extLst>
              </a:tr>
              <a:tr h="807133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XGBoost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Random Undersampling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9.7628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0.9381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5.7120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0.9844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3512336197"/>
                  </a:ext>
                </a:extLst>
              </a:tr>
              <a:tr h="572804">
                <a:tc>
                  <a:txBody>
                    <a:bodyPr/>
                    <a:lstStyle/>
                    <a:p>
                      <a:pPr rtl="0"/>
                      <a:r>
                        <a:rPr lang="en-IN" sz="1600" b="1">
                          <a:solidFill>
                            <a:srgbClr val="1F1F1F"/>
                          </a:solidFill>
                          <a:effectLst/>
                        </a:rPr>
                        <a:t>Random Forest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SMOTE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3.5449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0.9886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>
                          <a:solidFill>
                            <a:srgbClr val="1F1F1F"/>
                          </a:solidFill>
                          <a:effectLst/>
                        </a:rPr>
                        <a:t>3.5864</a:t>
                      </a:r>
                      <a:endParaRPr lang="en-IN" sz="160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IN" sz="1600" dirty="0">
                          <a:solidFill>
                            <a:srgbClr val="1F1F1F"/>
                          </a:solidFill>
                          <a:effectLst/>
                        </a:rPr>
                        <a:t>0.9887</a:t>
                      </a:r>
                      <a:endParaRPr lang="en-IN" sz="1600" dirty="0">
                        <a:solidFill>
                          <a:srgbClr val="1F1F1F"/>
                        </a:solidFill>
                        <a:effectLst/>
                        <a:latin typeface="+mj-lt"/>
                      </a:endParaRPr>
                    </a:p>
                  </a:txBody>
                  <a:tcPr marL="63265" marR="63265" marT="42177" marB="42177" anchor="ctr"/>
                </a:tc>
                <a:extLst>
                  <a:ext uri="{0D108BD9-81ED-4DB2-BD59-A6C34878D82A}">
                    <a16:rowId xmlns:a16="http://schemas.microsoft.com/office/drawing/2014/main" val="2124869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54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8E16-F5E1-3505-78F2-03DE339D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75563-277B-4D81-46A1-60D371AEA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329910" cy="3416300"/>
          </a:xfrm>
        </p:spPr>
        <p:txBody>
          <a:bodyPr>
            <a:normAutofit/>
          </a:bodyPr>
          <a:lstStyle/>
          <a:p>
            <a:r>
              <a:rPr lang="en-IN" sz="1600" dirty="0"/>
              <a:t>Dataset used is very limited and highly imbalanced containing  for proper training of ml models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sz="1600" dirty="0"/>
              <a:t>The pre processing can be done more efficiently to give a better data for training the models</a:t>
            </a:r>
          </a:p>
          <a:p>
            <a:pPr lvl="1"/>
            <a:r>
              <a:rPr lang="en-IN" sz="1400" dirty="0"/>
              <a:t>Rolling Window feature extraction was applied in reverse giving model future readings causing extrapolated results </a:t>
            </a:r>
          </a:p>
          <a:p>
            <a:pPr lvl="1"/>
            <a:r>
              <a:rPr lang="en-IN" sz="1400" dirty="0"/>
              <a:t>SMOTER was applied before train test split causing artificial points to enter the test data</a:t>
            </a:r>
          </a:p>
          <a:p>
            <a:pPr lvl="1"/>
            <a:r>
              <a:rPr lang="en-IN" sz="1400" dirty="0"/>
              <a:t>Using </a:t>
            </a:r>
            <a:r>
              <a:rPr lang="en-IN" sz="1400" dirty="0" err="1"/>
              <a:t>StandardScaler</a:t>
            </a:r>
            <a:r>
              <a:rPr lang="en-IN" sz="1400" dirty="0"/>
              <a:t> are not useful in tree based models </a:t>
            </a:r>
          </a:p>
          <a:p>
            <a:pPr lvl="1"/>
            <a:r>
              <a:rPr lang="en-IN" sz="1400" dirty="0"/>
              <a:t>Randon splitting was done for train test </a:t>
            </a:r>
            <a:r>
              <a:rPr lang="en-IN" sz="1400" dirty="0" err="1"/>
              <a:t>val</a:t>
            </a:r>
            <a:r>
              <a:rPr lang="en-IN" sz="1400" dirty="0"/>
              <a:t> set</a:t>
            </a:r>
          </a:p>
          <a:p>
            <a:pPr marL="457200" lvl="1" indent="0">
              <a:buNone/>
            </a:pPr>
            <a:endParaRPr lang="en-IN" sz="1400" dirty="0"/>
          </a:p>
          <a:p>
            <a:r>
              <a:rPr lang="en-IN" sz="1600" dirty="0"/>
              <a:t>Uses only classical and traditional ML models 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83055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8E16-F5E1-3505-78F2-03DE339D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/>
              <a:t>Future work to be done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4C3D08-1E25-85D4-38B8-FA7E143BC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29" y="2261150"/>
            <a:ext cx="10329910" cy="723392"/>
          </a:xfrm>
        </p:spPr>
        <p:txBody>
          <a:bodyPr>
            <a:normAutofit/>
          </a:bodyPr>
          <a:lstStyle/>
          <a:p>
            <a:r>
              <a:rPr lang="en-IN" dirty="0"/>
              <a:t>A better </a:t>
            </a:r>
            <a:r>
              <a:rPr lang="en-IN" dirty="0">
                <a:latin typeface="+mj-lt"/>
              </a:rPr>
              <a:t>dataset ( like </a:t>
            </a:r>
            <a:r>
              <a:rPr lang="en-IN" b="0" i="0" dirty="0">
                <a:solidFill>
                  <a:srgbClr val="252525"/>
                </a:solidFill>
                <a:effectLst/>
                <a:latin typeface="+mj-lt"/>
              </a:rPr>
              <a:t>Physio CGM: a multimodal physiological dataset for non-invasive blood glucose estimation ) can be used </a:t>
            </a:r>
          </a:p>
          <a:p>
            <a:pPr lvl="1"/>
            <a:endParaRPr lang="en-IN" dirty="0">
              <a:solidFill>
                <a:srgbClr val="252525"/>
              </a:solidFill>
              <a:latin typeface="Arial" panose="020B0604020202020204" pitchFamily="34" charset="0"/>
            </a:endParaRPr>
          </a:p>
          <a:p>
            <a:endParaRPr lang="en-IN" b="0" i="0" dirty="0">
              <a:solidFill>
                <a:srgbClr val="252525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405D5E-94DE-3F64-DBB0-5C310BE71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990630"/>
              </p:ext>
            </p:extLst>
          </p:nvPr>
        </p:nvGraphicFramePr>
        <p:xfrm>
          <a:off x="685800" y="2984542"/>
          <a:ext cx="10429872" cy="3560892"/>
        </p:xfrm>
        <a:graphic>
          <a:graphicData uri="http://schemas.openxmlformats.org/drawingml/2006/table">
            <a:tbl>
              <a:tblPr/>
              <a:tblGrid>
                <a:gridCol w="3476624">
                  <a:extLst>
                    <a:ext uri="{9D8B030D-6E8A-4147-A177-3AD203B41FA5}">
                      <a16:colId xmlns:a16="http://schemas.microsoft.com/office/drawing/2014/main" val="1669024525"/>
                    </a:ext>
                  </a:extLst>
                </a:gridCol>
                <a:gridCol w="3476624">
                  <a:extLst>
                    <a:ext uri="{9D8B030D-6E8A-4147-A177-3AD203B41FA5}">
                      <a16:colId xmlns:a16="http://schemas.microsoft.com/office/drawing/2014/main" val="2376647545"/>
                    </a:ext>
                  </a:extLst>
                </a:gridCol>
                <a:gridCol w="3476624">
                  <a:extLst>
                    <a:ext uri="{9D8B030D-6E8A-4147-A177-3AD203B41FA5}">
                      <a16:colId xmlns:a16="http://schemas.microsoft.com/office/drawing/2014/main" val="119180914"/>
                    </a:ext>
                  </a:extLst>
                </a:gridCol>
              </a:tblGrid>
              <a:tr h="309442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  <a:latin typeface="+mj-lt"/>
                        </a:rPr>
                        <a:t>Comparison Metric</a:t>
                      </a:r>
                      <a:endParaRPr lang="en-IN" sz="120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  <a:latin typeface="+mj-lt"/>
                        </a:rPr>
                        <a:t>Uploaded Dataset (dataset.xlsx)</a:t>
                      </a:r>
                      <a:endParaRPr lang="en-IN" sz="120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  <a:latin typeface="+mj-lt"/>
                        </a:rPr>
                        <a:t>PhysioCGM Dataset</a:t>
                      </a:r>
                      <a:endParaRPr lang="en-IN" sz="120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025580"/>
                  </a:ext>
                </a:extLst>
              </a:tr>
              <a:tr h="562622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  <a:latin typeface="+mj-lt"/>
                        </a:rPr>
                        <a:t>Data Structure</a:t>
                      </a:r>
                      <a:endParaRPr lang="en-IN" sz="1200" dirty="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j-lt"/>
                        </a:rPr>
                        <a:t>Static tabular CSV/Excel (16,969 single-row entries).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j-lt"/>
                        </a:rPr>
                        <a:t>High-resolution multi-channel time series (raw &amp; 5-min pre-processed .pkl windows).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373156"/>
                  </a:ext>
                </a:extLst>
              </a:tr>
              <a:tr h="689214">
                <a:tc>
                  <a:txBody>
                    <a:bodyPr/>
                    <a:lstStyle/>
                    <a:p>
                      <a:r>
                        <a:rPr lang="en-IN" sz="1200" b="1" dirty="0">
                          <a:effectLst/>
                          <a:latin typeface="+mj-lt"/>
                        </a:rPr>
                        <a:t>Physiological Modalities</a:t>
                      </a:r>
                      <a:endParaRPr lang="en-IN" sz="1200" dirty="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j-lt"/>
                        </a:rPr>
                        <a:t>Discrete summary features: Age, BP (Systolic/Diastolic), HR, Body Temp, SPO2, binary Sweating, and Shivering.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effectLst/>
                          <a:latin typeface="+mj-lt"/>
                        </a:rPr>
                        <a:t>Raw continuous waveforms: High-frequency ECG (250 Hz), PPG (64 Hz), EDA/GSR, Skin Temp, and Accelerometery.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381909"/>
                  </a:ext>
                </a:extLst>
              </a:tr>
              <a:tr h="598387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  <a:latin typeface="+mj-lt"/>
                        </a:rPr>
                        <a:t>Blood Glucose Ground Truth</a:t>
                      </a:r>
                      <a:endParaRPr lang="en-IN" sz="120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j-lt"/>
                        </a:rPr>
                        <a:t>Single snapshot scalar readings (ranging from 50 to 250{ mg/dL}).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j-lt"/>
                        </a:rPr>
                        <a:t>Continuous Glucose Monitor (Dexcom G6 CGM) readings recorded automatically every 5 minutes.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504619"/>
                  </a:ext>
                </a:extLst>
              </a:tr>
              <a:tr h="598387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  <a:latin typeface="+mj-lt"/>
                        </a:rPr>
                        <a:t>Temporal Context</a:t>
                      </a:r>
                      <a:endParaRPr lang="en-IN" sz="120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j-lt"/>
                        </a:rPr>
                        <a:t>Isolated point-in-time clinical/vital observations.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j-lt"/>
                        </a:rPr>
                        <a:t>Multi-day longitudinal tracking (up to 17 continuous days per subject in free-living conditions).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104167"/>
                  </a:ext>
                </a:extLst>
              </a:tr>
              <a:tr h="779097">
                <a:tc>
                  <a:txBody>
                    <a:bodyPr/>
                    <a:lstStyle/>
                    <a:p>
                      <a:r>
                        <a:rPr lang="en-IN" sz="1200" b="1">
                          <a:effectLst/>
                          <a:latin typeface="+mj-lt"/>
                        </a:rPr>
                        <a:t>Advanced Signal Processing</a:t>
                      </a:r>
                      <a:endParaRPr lang="en-IN" sz="1200">
                        <a:effectLst/>
                        <a:latin typeface="+mj-lt"/>
                      </a:endParaRP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effectLst/>
                          <a:latin typeface="+mj-lt"/>
                        </a:rPr>
                        <a:t>Not possible (limited to basic tabular ML like Logistic Regression or Random Forest on static vitals).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effectLst/>
                          <a:latin typeface="+mj-lt"/>
                        </a:rPr>
                        <a:t>Supports advanced feature extraction (HRV, pulse wave velocity, spectral power) and deep learning models (CNNs, LSTMs, Transformers).</a:t>
                      </a:r>
                    </a:p>
                  </a:txBody>
                  <a:tcPr marL="42704" marR="42704" marT="28469" marB="28469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784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61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AF47-EB20-9B56-207A-6C01F843F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148437" cy="653796"/>
          </a:xfrm>
        </p:spPr>
        <p:txBody>
          <a:bodyPr/>
          <a:lstStyle/>
          <a:p>
            <a:r>
              <a:rPr lang="en-IN" sz="2800" dirty="0"/>
              <a:t>Future work to be done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2744B-3DBA-166E-05EC-C1AB42AE7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60219"/>
            <a:ext cx="10455409" cy="3416300"/>
          </a:xfrm>
        </p:spPr>
        <p:txBody>
          <a:bodyPr/>
          <a:lstStyle/>
          <a:p>
            <a:r>
              <a:rPr lang="en-IN" dirty="0"/>
              <a:t>Better preprocessing</a:t>
            </a:r>
          </a:p>
          <a:p>
            <a:pPr lvl="1"/>
            <a:r>
              <a:rPr lang="en-IN" dirty="0"/>
              <a:t>The dataset must be classified between two regimes and then regression models must be applied separately to both regimes</a:t>
            </a:r>
          </a:p>
          <a:p>
            <a:pPr lvl="1"/>
            <a:r>
              <a:rPr lang="en-IN" dirty="0"/>
              <a:t>Since the number of data points for every age is different the rolling window must be applied to every age separately with different window size 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3716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E7AEB-3BAC-B74F-08EE-86D54FA2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7577"/>
            <a:ext cx="10515600" cy="71640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IN" sz="4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119334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4691</TotalTime>
  <Words>801</Words>
  <Application>Microsoft Office PowerPoint</Application>
  <PresentationFormat>Widescreen</PresentationFormat>
  <Paragraphs>138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Times New Roman</vt:lpstr>
      <vt:lpstr>Wingdings 3</vt:lpstr>
      <vt:lpstr>Ion Boardroom</vt:lpstr>
      <vt:lpstr>Estimating blood glucose level using non-invasive wearable device data </vt:lpstr>
      <vt:lpstr>Index</vt:lpstr>
      <vt:lpstr>PowerPoint Presentation</vt:lpstr>
      <vt:lpstr>All about Dataset</vt:lpstr>
      <vt:lpstr>All about Dataset</vt:lpstr>
      <vt:lpstr>All about Dataset</vt:lpstr>
      <vt:lpstr>Dataset anlaysis</vt:lpstr>
      <vt:lpstr>Problems with dataset </vt:lpstr>
      <vt:lpstr>How the data was pre-processed</vt:lpstr>
      <vt:lpstr>Machine learning pipeline architecture</vt:lpstr>
      <vt:lpstr>Result/Outcomes</vt:lpstr>
      <vt:lpstr>Limitations</vt:lpstr>
      <vt:lpstr>Future work to be done </vt:lpstr>
      <vt:lpstr>Future work to be done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Vansh Goyal</dc:creator>
  <cp:lastModifiedBy>GOYAL Vansh (CNH)</cp:lastModifiedBy>
  <cp:revision>78</cp:revision>
  <dcterms:modified xsi:type="dcterms:W3CDTF">2026-09-02T08:33:30Z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eb0fb4-c8a5-4461-a7eb-fddbf6a063ea_Enabled">
    <vt:lpwstr>true</vt:lpwstr>
  </property>
  <property fmtid="{D5CDD505-2E9C-101B-9397-08002B2CF9AE}" pid="3" name="MSIP_Label_7feb0fb4-c8a5-4461-a7eb-fddbf6a063ea_SetDate">
    <vt:lpwstr>2026-08-26T10:17:40Z</vt:lpwstr>
  </property>
  <property fmtid="{D5CDD505-2E9C-101B-9397-08002B2CF9AE}" pid="4" name="MSIP_Label_7feb0fb4-c8a5-4461-a7eb-fddbf6a063ea_Method">
    <vt:lpwstr>Standard</vt:lpwstr>
  </property>
  <property fmtid="{D5CDD505-2E9C-101B-9397-08002B2CF9AE}" pid="5" name="MSIP_Label_7feb0fb4-c8a5-4461-a7eb-fddbf6a063ea_Name">
    <vt:lpwstr>General Business</vt:lpwstr>
  </property>
  <property fmtid="{D5CDD505-2E9C-101B-9397-08002B2CF9AE}" pid="6" name="MSIP_Label_7feb0fb4-c8a5-4461-a7eb-fddbf6a063ea_SiteId">
    <vt:lpwstr>79310fb0-d39b-486b-b77b-25f3e0c82a0e</vt:lpwstr>
  </property>
  <property fmtid="{D5CDD505-2E9C-101B-9397-08002B2CF9AE}" pid="7" name="MSIP_Label_7feb0fb4-c8a5-4461-a7eb-fddbf6a063ea_ActionId">
    <vt:lpwstr>d3e38b20-fb6e-423c-96c0-a231deb01d41</vt:lpwstr>
  </property>
  <property fmtid="{D5CDD505-2E9C-101B-9397-08002B2CF9AE}" pid="8" name="MSIP_Label_7feb0fb4-c8a5-4461-a7eb-fddbf6a063ea_ContentBits">
    <vt:lpwstr>1</vt:lpwstr>
  </property>
  <property fmtid="{D5CDD505-2E9C-101B-9397-08002B2CF9AE}" pid="9" name="MSIP_Label_7feb0fb4-c8a5-4461-a7eb-fddbf6a063ea_Tag">
    <vt:lpwstr>10, 3, 0, 1</vt:lpwstr>
  </property>
  <property fmtid="{D5CDD505-2E9C-101B-9397-08002B2CF9AE}" pid="10" name="ClassificationContentMarkingHeaderLocations">
    <vt:lpwstr>Ion Boardroom:10</vt:lpwstr>
  </property>
  <property fmtid="{D5CDD505-2E9C-101B-9397-08002B2CF9AE}" pid="11" name="ClassificationContentMarkingHeaderText">
    <vt:lpwstr>General Business</vt:lpwstr>
  </property>
</Properties>
</file>