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saying this is a research/engineering prototype. The goal is to investigate whether wearable-style physiological measurements plus historical context can estimate BGL. Do not present it as a clinically validated device.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distinction between the engineering research question and a clinical claim. The project is testing feasibility on the supplied dataset, not replacing a clinical glucose measurement.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important objective is methodological: build a model and also determine what the metrics actually mean.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Mention that 16,969 is the raw workbook size and 16,697 is after the project's 272 duplicate removals. The dataset provenance is a limitation because the source describes a mixture of true and synthetic records.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Clarify that the final rolling model uses ten engineered features. The earlier experiments included a broader nine-feature point-in-time set and several derived features.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 to right. Stress that evaluation design sits outside the model itself and can change the interpretation of the same algorithm.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why sorting by Age is not automatically correct. Sorting could change the sequence itself. The real unresolved question is whether the original row order represents time/session order and whether blocks should be boundaries.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detail is shift(1). We explicitly audited a representative row: model rolling mean matched the manually computed past-only mean exactly. Do not say the window is session-aware; it is currently Age-group-aware.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important story is not simply '250 is better'. It is that BGL in this dataset is highly persistent and long blocks exist. That can make history-based prediction easier.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central. Explain that a row-level split and a participant-level split are different experiments. The 0.9683 R² belongs to the legacy row-level validation, not the participant-independent test.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present the two-stage architecture as the final production architecture. It is an experiment that taught us that high BGL is easy to model once the regime is known, but the regime boundary hurts overall RMSE.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point is not that two-stage failed. It isolated a useful property of the dataset: high-BGL values occur in a narrow regime. But the hard switch and probability blend did not beat the simpler model overall.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addresses the real-world deployment question. A completely new person has no personal history, so we should not promise the same performance until sufficient history has been collected.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reported legacy validation metrics. The 7.8812 result was reproduced exactly from the packaged dataset. Emphasize that these are not the stronger participant-independent metrics.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out that a strong scatter plot can still hide systematic failure modes. In this dataset, the most important errors are around transitions into the high-BGL regime.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transparent. Say 'the rolling calculation is past-only' but 'the evaluation is not leakage-free in the participant-independent sense.' Also mention that the block/session semantics are not established.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project status snapshot. Use the three buckets: completed, in validation, remaining. Avoid calling the project production-ready.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persistence baseline is a particularly important limitation. It means a high R² can partly reflect target persistence rather than a strong causal/physiological wearable signal.</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step is not more hyperparameter tuning. The highest-value work is to establish what the blocks mean and make the history construction scientifically defensible.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with the engineering message: the project is valuable because it found a strong signal and, more importantly, identified exactly why that signal must be validated carefully before claiming real-world capability.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234440"/>
            <a:ext cx="10789920" cy="1828800"/>
          </a:xfrm>
          <a:prstGeom prst="rect">
            <a:avLst/>
          </a:prstGeom>
          <a:noFill/>
        </p:spPr>
        <p:txBody>
          <a:bodyPr wrap="none">
            <a:spAutoFit/>
          </a:bodyPr>
          <a:lstStyle/>
          <a:p>
            <a:r>
              <a:rPr sz="3400" b="1">
                <a:solidFill>
                  <a:srgbClr val="FFFFFF"/>
                </a:solidFill>
              </a:rPr>
              <a:t>Wearable-Based Blood Glucose Level Estimation</a:t>
            </a:r>
          </a:p>
          <a:p>
            <a:r>
              <a:rPr sz="2000">
                <a:solidFill>
                  <a:srgbClr val="B4E1E4"/>
                </a:solidFill>
              </a:rPr>
              <a:t>History-aware machine learning prototype</a:t>
            </a:r>
          </a:p>
          <a:p>
            <a:r>
              <a:rPr sz="1400">
                <a:solidFill>
                  <a:srgbClr val="D2DCE1"/>
                </a:solidFill>
              </a:rPr>
              <a:t>Engineering review • Vansh Goyal • 05 Sep 2026</a:t>
            </a:r>
          </a:p>
        </p:txBody>
      </p:sp>
      <p:sp>
        <p:nvSpPr>
          <p:cNvPr id="4" name="Rectangle 3"/>
          <p:cNvSpPr/>
          <p:nvPr/>
        </p:nvSpPr>
        <p:spPr>
          <a:xfrm>
            <a:off x="594360" y="6510528"/>
            <a:ext cx="10972800" cy="18288"/>
          </a:xfrm>
          <a:prstGeom prst="rect">
            <a:avLst/>
          </a:prstGeom>
          <a:solidFill>
            <a:srgbClr val="DC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6556248"/>
            <a:ext cx="10515600" cy="182880"/>
          </a:xfrm>
          <a:prstGeom prst="rect">
            <a:avLst/>
          </a:prstGeom>
          <a:noFill/>
        </p:spPr>
        <p:txBody>
          <a:bodyPr wrap="none">
            <a:spAutoFit/>
          </a:bodyPr>
          <a:lstStyle/>
          <a:p>
            <a:r>
              <a:rPr sz="800">
                <a:solidFill>
                  <a:srgbClr val="5F6E78"/>
                </a:solidFill>
              </a:rPr>
              <a:t>BGL Wearable Estimation • Engineering Review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640080"/>
          </a:xfrm>
          <a:prstGeom prst="rect">
            <a:avLst/>
          </a:prstGeom>
          <a:noFill/>
        </p:spPr>
        <p:txBody>
          <a:bodyPr wrap="none">
            <a:spAutoFit/>
          </a:bodyPr>
          <a:lstStyle/>
          <a:p>
            <a:r>
              <a:rPr sz="2700" b="1">
                <a:solidFill>
                  <a:srgbClr val="142237"/>
                </a:solidFill>
              </a:rPr>
              <a:t>Problem Statement</a:t>
            </a:r>
          </a:p>
        </p:txBody>
      </p:sp>
      <p:sp>
        <p:nvSpPr>
          <p:cNvPr id="4" name="TextBox 3"/>
          <p:cNvSpPr txBox="1"/>
          <p:nvPr/>
        </p:nvSpPr>
        <p:spPr>
          <a:xfrm>
            <a:off x="621792" y="960120"/>
            <a:ext cx="10789920" cy="411480"/>
          </a:xfrm>
          <a:prstGeom prst="rect">
            <a:avLst/>
          </a:prstGeom>
          <a:noFill/>
        </p:spPr>
        <p:txBody>
          <a:bodyPr wrap="none">
            <a:spAutoFit/>
          </a:bodyPr>
          <a:lstStyle/>
          <a:p>
            <a:r>
              <a:rPr sz="1200">
                <a:solidFill>
                  <a:srgbClr val="5F6E78"/>
                </a:solidFill>
              </a:rPr>
              <a:t>Why estimate BGL from wearable-style signals?</a:t>
            </a:r>
          </a:p>
        </p:txBody>
      </p:sp>
      <p:sp>
        <p:nvSpPr>
          <p:cNvPr id="5" name="TextBox 4"/>
          <p:cNvSpPr txBox="1"/>
          <p:nvPr/>
        </p:nvSpPr>
        <p:spPr>
          <a:xfrm>
            <a:off x="822960" y="1463040"/>
            <a:ext cx="10515600" cy="4480560"/>
          </a:xfrm>
          <a:prstGeom prst="rect">
            <a:avLst/>
          </a:prstGeom>
          <a:noFill/>
        </p:spPr>
        <p:txBody>
          <a:bodyPr wrap="square">
            <a:spAutoFit/>
          </a:bodyPr>
          <a:lstStyle/>
          <a:p>
            <a:pPr>
              <a:spcAft>
                <a:spcPts val="1000"/>
              </a:spcAft>
              <a:defRPr sz="1900" b="0">
                <a:solidFill>
                  <a:srgbClr val="1E2830"/>
                </a:solidFill>
              </a:defRPr>
            </a:pPr>
            <a:r>
              <a:t>Blood glucose is normally measured using glucose-specific sensing methods; the project investigates whether non-invasive wearable-derived physiological signals contain useful information.</a:t>
            </a:r>
          </a:p>
          <a:p>
            <a:pPr>
              <a:spcAft>
                <a:spcPts val="1000"/>
              </a:spcAft>
              <a:defRPr sz="1900" b="0">
                <a:solidFill>
                  <a:srgbClr val="1E2830"/>
                </a:solidFill>
              </a:defRPr>
            </a:pPr>
            <a:r>
              <a:t>The engineering challenge is not just fitting a regressor — it is determining whether apparent accuracy survives realistic validation.</a:t>
            </a:r>
          </a:p>
          <a:p>
            <a:pPr>
              <a:spcAft>
                <a:spcPts val="1000"/>
              </a:spcAft>
              <a:defRPr sz="1900" b="0">
                <a:solidFill>
                  <a:srgbClr val="1E2830"/>
                </a:solidFill>
              </a:defRPr>
            </a:pPr>
            <a:r>
              <a:t>Target: Blood Glucose Level (BGL).</a:t>
            </a:r>
          </a:p>
          <a:p>
            <a:pPr>
              <a:spcAft>
                <a:spcPts val="1000"/>
              </a:spcAft>
              <a:defRPr sz="1900" b="0">
                <a:solidFill>
                  <a:srgbClr val="1E2830"/>
                </a:solidFill>
              </a:defRPr>
            </a:pPr>
            <a:r>
              <a:t>Current work focuses on model development, history construction, and methodological reliability rather than clinical deployment.</a:t>
            </a:r>
          </a:p>
        </p:txBody>
      </p:sp>
      <p:sp>
        <p:nvSpPr>
          <p:cNvPr id="6" name="Rectangle 5"/>
          <p:cNvSpPr/>
          <p:nvPr/>
        </p:nvSpPr>
        <p:spPr>
          <a:xfrm>
            <a:off x="594360" y="6510528"/>
            <a:ext cx="10972800" cy="18288"/>
          </a:xfrm>
          <a:prstGeom prst="rect">
            <a:avLst/>
          </a:prstGeom>
          <a:solidFill>
            <a:srgbClr val="DC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6556248"/>
            <a:ext cx="10515600" cy="182880"/>
          </a:xfrm>
          <a:prstGeom prst="rect">
            <a:avLst/>
          </a:prstGeom>
          <a:noFill/>
        </p:spPr>
        <p:txBody>
          <a:bodyPr wrap="none">
            <a:spAutoFit/>
          </a:bodyPr>
          <a:lstStyle/>
          <a:p>
            <a:r>
              <a:rPr sz="800">
                <a:solidFill>
                  <a:srgbClr val="5F6E78"/>
                </a:solidFill>
              </a:rPr>
              <a:t>BGL Wearable Estimation • Engineering Review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640080"/>
          </a:xfrm>
          <a:prstGeom prst="rect">
            <a:avLst/>
          </a:prstGeom>
          <a:noFill/>
        </p:spPr>
        <p:txBody>
          <a:bodyPr wrap="none">
            <a:spAutoFit/>
          </a:bodyPr>
          <a:lstStyle/>
          <a:p>
            <a:r>
              <a:rPr sz="2700" b="1">
                <a:solidFill>
                  <a:srgbClr val="142237"/>
                </a:solidFill>
              </a:rPr>
              <a:t>Project Objective</a:t>
            </a:r>
          </a:p>
        </p:txBody>
      </p:sp>
      <p:sp>
        <p:nvSpPr>
          <p:cNvPr id="4" name="Rounded Rectangle 3"/>
          <p:cNvSpPr/>
          <p:nvPr/>
        </p:nvSpPr>
        <p:spPr>
          <a:xfrm>
            <a:off x="822960" y="1463040"/>
            <a:ext cx="3200400" cy="1371600"/>
          </a:xfrm>
          <a:prstGeom prst="roundRect">
            <a:avLst/>
          </a:prstGeom>
          <a:solidFill>
            <a:srgbClr val="F2F6F8"/>
          </a:solidFill>
          <a:ln>
            <a:solidFill>
              <a:srgbClr val="D7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1463040"/>
            <a:ext cx="73152" cy="1371600"/>
          </a:xfrm>
          <a:prstGeom prst="rect">
            <a:avLst/>
          </a:prstGeom>
          <a:solidFill>
            <a:srgbClr val="1E82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 y="1627632"/>
            <a:ext cx="2880360" cy="1143000"/>
          </a:xfrm>
          <a:prstGeom prst="rect">
            <a:avLst/>
          </a:prstGeom>
          <a:noFill/>
        </p:spPr>
        <p:txBody>
          <a:bodyPr wrap="none">
            <a:spAutoFit/>
          </a:bodyPr>
          <a:lstStyle/>
          <a:p>
            <a:r>
              <a:rPr sz="1100">
                <a:solidFill>
                  <a:srgbClr val="5F6E78"/>
                </a:solidFill>
              </a:rPr>
              <a:t>TARGET</a:t>
            </a:r>
          </a:p>
          <a:p>
            <a:r>
              <a:rPr sz="2400" b="1">
                <a:solidFill>
                  <a:srgbClr val="142237"/>
                </a:solidFill>
              </a:rPr>
              <a:t>Current BGL</a:t>
            </a:r>
          </a:p>
        </p:txBody>
      </p:sp>
      <p:sp>
        <p:nvSpPr>
          <p:cNvPr id="7" name="Rounded Rectangle 6"/>
          <p:cNvSpPr/>
          <p:nvPr/>
        </p:nvSpPr>
        <p:spPr>
          <a:xfrm>
            <a:off x="4389120" y="1463040"/>
            <a:ext cx="3200400" cy="1371600"/>
          </a:xfrm>
          <a:prstGeom prst="roundRect">
            <a:avLst/>
          </a:prstGeom>
          <a:solidFill>
            <a:srgbClr val="F2F6F8"/>
          </a:solidFill>
          <a:ln>
            <a:solidFill>
              <a:srgbClr val="D7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89120" y="1463040"/>
            <a:ext cx="73152" cy="1371600"/>
          </a:xfrm>
          <a:prstGeom prst="rect">
            <a:avLst/>
          </a:prstGeom>
          <a:solidFill>
            <a:srgbClr val="2D8C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90288" y="1627632"/>
            <a:ext cx="2880360" cy="1143000"/>
          </a:xfrm>
          <a:prstGeom prst="rect">
            <a:avLst/>
          </a:prstGeom>
          <a:noFill/>
        </p:spPr>
        <p:txBody>
          <a:bodyPr wrap="none">
            <a:spAutoFit/>
          </a:bodyPr>
          <a:lstStyle/>
          <a:p>
            <a:r>
              <a:rPr sz="1100">
                <a:solidFill>
                  <a:srgbClr val="5F6E78"/>
                </a:solidFill>
              </a:rPr>
              <a:t>HISTORY</a:t>
            </a:r>
          </a:p>
          <a:p>
            <a:r>
              <a:rPr sz="2400" b="1">
                <a:solidFill>
                  <a:srgbClr val="142237"/>
                </a:solidFill>
              </a:rPr>
              <a:t>250 previous observations</a:t>
            </a:r>
          </a:p>
        </p:txBody>
      </p:sp>
      <p:sp>
        <p:nvSpPr>
          <p:cNvPr id="10" name="Rounded Rectangle 9"/>
          <p:cNvSpPr/>
          <p:nvPr/>
        </p:nvSpPr>
        <p:spPr>
          <a:xfrm>
            <a:off x="7955279" y="1463040"/>
            <a:ext cx="3200400" cy="1371600"/>
          </a:xfrm>
          <a:prstGeom prst="roundRect">
            <a:avLst/>
          </a:prstGeom>
          <a:solidFill>
            <a:srgbClr val="F2F6F8"/>
          </a:solidFill>
          <a:ln>
            <a:solidFill>
              <a:srgbClr val="D7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955279" y="1463040"/>
            <a:ext cx="73152" cy="1371600"/>
          </a:xfrm>
          <a:prstGeom prst="rect">
            <a:avLst/>
          </a:prstGeom>
          <a:solidFill>
            <a:srgbClr val="CD91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56448" y="1627632"/>
            <a:ext cx="2880360" cy="1143000"/>
          </a:xfrm>
          <a:prstGeom prst="rect">
            <a:avLst/>
          </a:prstGeom>
          <a:noFill/>
        </p:spPr>
        <p:txBody>
          <a:bodyPr wrap="none">
            <a:spAutoFit/>
          </a:bodyPr>
          <a:lstStyle/>
          <a:p>
            <a:r>
              <a:rPr sz="1100">
                <a:solidFill>
                  <a:srgbClr val="5F6E78"/>
                </a:solidFill>
              </a:rPr>
              <a:t>MODEL</a:t>
            </a:r>
          </a:p>
          <a:p>
            <a:r>
              <a:rPr sz="2400" b="1">
                <a:solidFill>
                  <a:srgbClr val="142237"/>
                </a:solidFill>
              </a:rPr>
              <a:t>CatBoost</a:t>
            </a:r>
          </a:p>
        </p:txBody>
      </p:sp>
      <p:sp>
        <p:nvSpPr>
          <p:cNvPr id="13" name="TextBox 12"/>
          <p:cNvSpPr txBox="1"/>
          <p:nvPr/>
        </p:nvSpPr>
        <p:spPr>
          <a:xfrm>
            <a:off x="822960" y="3200400"/>
            <a:ext cx="10515600" cy="4480560"/>
          </a:xfrm>
          <a:prstGeom prst="rect">
            <a:avLst/>
          </a:prstGeom>
          <a:noFill/>
        </p:spPr>
        <p:txBody>
          <a:bodyPr wrap="square">
            <a:spAutoFit/>
          </a:bodyPr>
          <a:lstStyle/>
          <a:p>
            <a:pPr>
              <a:spcAft>
                <a:spcPts val="1000"/>
              </a:spcAft>
              <a:defRPr sz="1900" b="0">
                <a:solidFill>
                  <a:srgbClr val="1E2830"/>
                </a:solidFill>
              </a:defRPr>
            </a:pPr>
            <a:r>
              <a:t>Build a reproducible pipeline from raw wearable-style records to BGL estimation.</a:t>
            </a:r>
          </a:p>
          <a:p>
            <a:pPr>
              <a:spcAft>
                <a:spcPts val="1000"/>
              </a:spcAft>
              <a:defRPr sz="1900" b="0">
                <a:solidFill>
                  <a:srgbClr val="1E2830"/>
                </a:solidFill>
              </a:defRPr>
            </a:pPr>
            <a:r>
              <a:t>Test whether historical physiological context improves over isolated-observation models.</a:t>
            </a:r>
          </a:p>
          <a:p>
            <a:pPr>
              <a:spcAft>
                <a:spcPts val="1000"/>
              </a:spcAft>
              <a:defRPr sz="1900" b="0">
                <a:solidFill>
                  <a:srgbClr val="1E2830"/>
                </a:solidFill>
              </a:defRPr>
            </a:pPr>
            <a:r>
              <a:t>Separate within-dataset performance from unseen-participant generalization.</a:t>
            </a:r>
          </a:p>
          <a:p>
            <a:pPr>
              <a:spcAft>
                <a:spcPts val="1000"/>
              </a:spcAft>
              <a:defRPr sz="1900" b="0">
                <a:solidFill>
                  <a:srgbClr val="1E2830"/>
                </a:solidFill>
              </a:defRPr>
            </a:pPr>
            <a:r>
              <a:t>Audit unusually strong results before treating them as reliable.</a:t>
            </a:r>
          </a:p>
        </p:txBody>
      </p:sp>
      <p:sp>
        <p:nvSpPr>
          <p:cNvPr id="14" name="Rectangle 13"/>
          <p:cNvSpPr/>
          <p:nvPr/>
        </p:nvSpPr>
        <p:spPr>
          <a:xfrm>
            <a:off x="594360" y="6510528"/>
            <a:ext cx="10972800" cy="18288"/>
          </a:xfrm>
          <a:prstGeom prst="rect">
            <a:avLst/>
          </a:prstGeom>
          <a:solidFill>
            <a:srgbClr val="DC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 y="6556248"/>
            <a:ext cx="10515600" cy="182880"/>
          </a:xfrm>
          <a:prstGeom prst="rect">
            <a:avLst/>
          </a:prstGeom>
          <a:noFill/>
        </p:spPr>
        <p:txBody>
          <a:bodyPr wrap="none">
            <a:spAutoFit/>
          </a:bodyPr>
          <a:lstStyle/>
          <a:p>
            <a:r>
              <a:rPr sz="800">
                <a:solidFill>
                  <a:srgbClr val="5F6E78"/>
                </a:solidFill>
              </a:rPr>
              <a:t>BGL Wearable Estimation • Engineering Review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640080"/>
          </a:xfrm>
          <a:prstGeom prst="rect">
            <a:avLst/>
          </a:prstGeom>
          <a:noFill/>
        </p:spPr>
        <p:txBody>
          <a:bodyPr wrap="none">
            <a:spAutoFit/>
          </a:bodyPr>
          <a:lstStyle/>
          <a:p>
            <a:r>
              <a:rPr sz="2700" b="1">
                <a:solidFill>
                  <a:srgbClr val="142237"/>
                </a:solidFill>
              </a:rPr>
              <a:t>Dataset Overview</a:t>
            </a:r>
          </a:p>
        </p:txBody>
      </p:sp>
      <p:sp>
        <p:nvSpPr>
          <p:cNvPr id="4" name="Rounded Rectangle 3"/>
          <p:cNvSpPr/>
          <p:nvPr/>
        </p:nvSpPr>
        <p:spPr>
          <a:xfrm>
            <a:off x="731520" y="1325880"/>
            <a:ext cx="2560320" cy="1280160"/>
          </a:xfrm>
          <a:prstGeom prst="roundRect">
            <a:avLst/>
          </a:prstGeom>
          <a:solidFill>
            <a:srgbClr val="F2F6F8"/>
          </a:solidFill>
          <a:ln>
            <a:solidFill>
              <a:srgbClr val="D7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325880"/>
            <a:ext cx="73152" cy="1280160"/>
          </a:xfrm>
          <a:prstGeom prst="rect">
            <a:avLst/>
          </a:prstGeom>
          <a:solidFill>
            <a:srgbClr val="1E82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1490472"/>
            <a:ext cx="2240279" cy="1051560"/>
          </a:xfrm>
          <a:prstGeom prst="rect">
            <a:avLst/>
          </a:prstGeom>
          <a:noFill/>
        </p:spPr>
        <p:txBody>
          <a:bodyPr wrap="none">
            <a:spAutoFit/>
          </a:bodyPr>
          <a:lstStyle/>
          <a:p>
            <a:r>
              <a:rPr sz="1100">
                <a:solidFill>
                  <a:srgbClr val="5F6E78"/>
                </a:solidFill>
              </a:rPr>
              <a:t>RAW ROWS</a:t>
            </a:r>
          </a:p>
          <a:p>
            <a:r>
              <a:rPr sz="2400" b="1">
                <a:solidFill>
                  <a:srgbClr val="142237"/>
                </a:solidFill>
              </a:rPr>
              <a:t>16,969</a:t>
            </a:r>
          </a:p>
        </p:txBody>
      </p:sp>
      <p:sp>
        <p:nvSpPr>
          <p:cNvPr id="7" name="Rounded Rectangle 6"/>
          <p:cNvSpPr/>
          <p:nvPr/>
        </p:nvSpPr>
        <p:spPr>
          <a:xfrm>
            <a:off x="3520440" y="1325880"/>
            <a:ext cx="2560320" cy="1280160"/>
          </a:xfrm>
          <a:prstGeom prst="roundRect">
            <a:avLst/>
          </a:prstGeom>
          <a:solidFill>
            <a:srgbClr val="F2F6F8"/>
          </a:solidFill>
          <a:ln>
            <a:solidFill>
              <a:srgbClr val="D7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520440" y="1325880"/>
            <a:ext cx="73152" cy="1280160"/>
          </a:xfrm>
          <a:prstGeom prst="rect">
            <a:avLst/>
          </a:prstGeom>
          <a:solidFill>
            <a:srgbClr val="CD91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21608" y="1490472"/>
            <a:ext cx="2240279" cy="1051560"/>
          </a:xfrm>
          <a:prstGeom prst="rect">
            <a:avLst/>
          </a:prstGeom>
          <a:noFill/>
        </p:spPr>
        <p:txBody>
          <a:bodyPr wrap="none">
            <a:spAutoFit/>
          </a:bodyPr>
          <a:lstStyle/>
          <a:p>
            <a:r>
              <a:rPr sz="1100">
                <a:solidFill>
                  <a:srgbClr val="5F6E78"/>
                </a:solidFill>
              </a:rPr>
              <a:t>DUPLICATES REMOVED</a:t>
            </a:r>
          </a:p>
          <a:p>
            <a:r>
              <a:rPr sz="2400" b="1">
                <a:solidFill>
                  <a:srgbClr val="142237"/>
                </a:solidFill>
              </a:rPr>
              <a:t>272</a:t>
            </a:r>
          </a:p>
        </p:txBody>
      </p:sp>
      <p:sp>
        <p:nvSpPr>
          <p:cNvPr id="10" name="Rounded Rectangle 9"/>
          <p:cNvSpPr/>
          <p:nvPr/>
        </p:nvSpPr>
        <p:spPr>
          <a:xfrm>
            <a:off x="6309360" y="1325880"/>
            <a:ext cx="2560320" cy="1280160"/>
          </a:xfrm>
          <a:prstGeom prst="roundRect">
            <a:avLst/>
          </a:prstGeom>
          <a:solidFill>
            <a:srgbClr val="F2F6F8"/>
          </a:solidFill>
          <a:ln>
            <a:solidFill>
              <a:srgbClr val="D7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09360" y="1325880"/>
            <a:ext cx="73152" cy="1280160"/>
          </a:xfrm>
          <a:prstGeom prst="rect">
            <a:avLst/>
          </a:prstGeom>
          <a:solidFill>
            <a:srgbClr val="2D8C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10528" y="1490472"/>
            <a:ext cx="2240279" cy="1051560"/>
          </a:xfrm>
          <a:prstGeom prst="rect">
            <a:avLst/>
          </a:prstGeom>
          <a:noFill/>
        </p:spPr>
        <p:txBody>
          <a:bodyPr wrap="none">
            <a:spAutoFit/>
          </a:bodyPr>
          <a:lstStyle/>
          <a:p>
            <a:r>
              <a:rPr sz="1100">
                <a:solidFill>
                  <a:srgbClr val="5F6E78"/>
                </a:solidFill>
              </a:rPr>
              <a:t>CLEAN ROWS</a:t>
            </a:r>
          </a:p>
          <a:p>
            <a:r>
              <a:rPr sz="2400" b="1">
                <a:solidFill>
                  <a:srgbClr val="142237"/>
                </a:solidFill>
              </a:rPr>
              <a:t>16,697</a:t>
            </a:r>
          </a:p>
        </p:txBody>
      </p:sp>
      <p:sp>
        <p:nvSpPr>
          <p:cNvPr id="13" name="Rounded Rectangle 12"/>
          <p:cNvSpPr/>
          <p:nvPr/>
        </p:nvSpPr>
        <p:spPr>
          <a:xfrm>
            <a:off x="9098280" y="1325880"/>
            <a:ext cx="2286000" cy="1280160"/>
          </a:xfrm>
          <a:prstGeom prst="roundRect">
            <a:avLst/>
          </a:prstGeom>
          <a:solidFill>
            <a:srgbClr val="F2F6F8"/>
          </a:solidFill>
          <a:ln>
            <a:solidFill>
              <a:srgbClr val="D7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098280" y="1325880"/>
            <a:ext cx="73152" cy="1280160"/>
          </a:xfrm>
          <a:prstGeom prst="rect">
            <a:avLst/>
          </a:prstGeom>
          <a:solidFill>
            <a:srgbClr val="1E82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99448" y="1490472"/>
            <a:ext cx="1965960" cy="1051560"/>
          </a:xfrm>
          <a:prstGeom prst="rect">
            <a:avLst/>
          </a:prstGeom>
          <a:noFill/>
        </p:spPr>
        <p:txBody>
          <a:bodyPr wrap="none">
            <a:spAutoFit/>
          </a:bodyPr>
          <a:lstStyle/>
          <a:p>
            <a:r>
              <a:rPr sz="1100">
                <a:solidFill>
                  <a:srgbClr val="5F6E78"/>
                </a:solidFill>
              </a:rPr>
              <a:t>AGE GROUPS</a:t>
            </a:r>
          </a:p>
          <a:p>
            <a:r>
              <a:rPr sz="2400" b="1">
                <a:solidFill>
                  <a:srgbClr val="142237"/>
                </a:solidFill>
              </a:rPr>
              <a:t>13</a:t>
            </a:r>
          </a:p>
        </p:txBody>
      </p:sp>
      <p:sp>
        <p:nvSpPr>
          <p:cNvPr id="16" name="TextBox 15"/>
          <p:cNvSpPr txBox="1"/>
          <p:nvPr/>
        </p:nvSpPr>
        <p:spPr>
          <a:xfrm>
            <a:off x="822960" y="2971800"/>
            <a:ext cx="10515600" cy="4480560"/>
          </a:xfrm>
          <a:prstGeom prst="rect">
            <a:avLst/>
          </a:prstGeom>
          <a:noFill/>
        </p:spPr>
        <p:txBody>
          <a:bodyPr wrap="square">
            <a:spAutoFit/>
          </a:bodyPr>
          <a:lstStyle/>
          <a:p>
            <a:pPr>
              <a:spcAft>
                <a:spcPts val="1000"/>
              </a:spcAft>
              <a:defRPr sz="1700" b="0">
                <a:solidFill>
                  <a:srgbClr val="1E2830"/>
                </a:solidFill>
              </a:defRPr>
            </a:pPr>
            <a:r>
              <a:t>Source workbook contains BGL, physiological variables, diabetic status and an Age field used in the project as a group/participant proxy.</a:t>
            </a:r>
          </a:p>
          <a:p>
            <a:pPr>
              <a:spcAft>
                <a:spcPts val="1000"/>
              </a:spcAft>
              <a:defRPr sz="1700" b="0">
                <a:solidFill>
                  <a:srgbClr val="1E2830"/>
                </a:solidFill>
              </a:defRPr>
            </a:pPr>
            <a:r>
              <a:t>The dataset description says records combine true and synthetic records; non-diabetic BGL is described as having limited variation.</a:t>
            </a:r>
          </a:p>
          <a:p>
            <a:pPr>
              <a:spcAft>
                <a:spcPts val="1000"/>
              </a:spcAft>
              <a:defRPr sz="1700" b="0">
                <a:solidFill>
                  <a:srgbClr val="1E2830"/>
                </a:solidFill>
              </a:defRPr>
            </a:pPr>
            <a:r>
              <a:t>Important limitation: Age is not independently established as a unique participant identifier, and the dataset has no timestamp column in the working dataframe.</a:t>
            </a:r>
          </a:p>
        </p:txBody>
      </p:sp>
      <p:sp>
        <p:nvSpPr>
          <p:cNvPr id="17" name="Rectangle 16"/>
          <p:cNvSpPr/>
          <p:nvPr/>
        </p:nvSpPr>
        <p:spPr>
          <a:xfrm>
            <a:off x="594360" y="6510528"/>
            <a:ext cx="10972800" cy="18288"/>
          </a:xfrm>
          <a:prstGeom prst="rect">
            <a:avLst/>
          </a:prstGeom>
          <a:solidFill>
            <a:srgbClr val="DC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1792" y="6556248"/>
            <a:ext cx="10515600" cy="182880"/>
          </a:xfrm>
          <a:prstGeom prst="rect">
            <a:avLst/>
          </a:prstGeom>
          <a:noFill/>
        </p:spPr>
        <p:txBody>
          <a:bodyPr wrap="none">
            <a:spAutoFit/>
          </a:bodyPr>
          <a:lstStyle/>
          <a:p>
            <a:r>
              <a:rPr sz="800">
                <a:solidFill>
                  <a:srgbClr val="5F6E78"/>
                </a:solidFill>
              </a:rPr>
              <a:t>BGL Wearable Estimation • Engineering Review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640080"/>
          </a:xfrm>
          <a:prstGeom prst="rect">
            <a:avLst/>
          </a:prstGeom>
          <a:noFill/>
        </p:spPr>
        <p:txBody>
          <a:bodyPr wrap="none">
            <a:spAutoFit/>
          </a:bodyPr>
          <a:lstStyle/>
          <a:p>
            <a:r>
              <a:rPr sz="2700" b="1">
                <a:solidFill>
                  <a:srgbClr val="142237"/>
                </a:solidFill>
              </a:rPr>
              <a:t>Input Features</a:t>
            </a:r>
          </a:p>
        </p:txBody>
      </p:sp>
      <p:sp>
        <p:nvSpPr>
          <p:cNvPr id="4" name="Rounded Rectangle 3"/>
          <p:cNvSpPr/>
          <p:nvPr/>
        </p:nvSpPr>
        <p:spPr>
          <a:xfrm>
            <a:off x="822960" y="1463040"/>
            <a:ext cx="1920240" cy="685800"/>
          </a:xfrm>
          <a:prstGeom prst="roundRect">
            <a:avLst/>
          </a:prstGeom>
          <a:solidFill>
            <a:srgbClr val="F2F6F8"/>
          </a:solidFill>
          <a:ln>
            <a:solidFill>
              <a:srgbClr val="1E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42237"/>
                </a:solidFill>
              </a:rPr>
              <a:t>Diastolic BP</a:t>
            </a:r>
          </a:p>
        </p:txBody>
      </p:sp>
      <p:sp>
        <p:nvSpPr>
          <p:cNvPr id="5" name="Rounded Rectangle 4"/>
          <p:cNvSpPr/>
          <p:nvPr/>
        </p:nvSpPr>
        <p:spPr>
          <a:xfrm>
            <a:off x="3063240" y="1463040"/>
            <a:ext cx="1920240" cy="685800"/>
          </a:xfrm>
          <a:prstGeom prst="roundRect">
            <a:avLst/>
          </a:prstGeom>
          <a:solidFill>
            <a:srgbClr val="F2F6F8"/>
          </a:solidFill>
          <a:ln>
            <a:solidFill>
              <a:srgbClr val="1E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42237"/>
                </a:solidFill>
              </a:rPr>
              <a:t>Systolic BP</a:t>
            </a:r>
          </a:p>
        </p:txBody>
      </p:sp>
      <p:sp>
        <p:nvSpPr>
          <p:cNvPr id="6" name="Rounded Rectangle 5"/>
          <p:cNvSpPr/>
          <p:nvPr/>
        </p:nvSpPr>
        <p:spPr>
          <a:xfrm>
            <a:off x="5303520" y="1463040"/>
            <a:ext cx="1920240" cy="685800"/>
          </a:xfrm>
          <a:prstGeom prst="roundRect">
            <a:avLst/>
          </a:prstGeom>
          <a:solidFill>
            <a:srgbClr val="F2F6F8"/>
          </a:solidFill>
          <a:ln>
            <a:solidFill>
              <a:srgbClr val="1E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42237"/>
                </a:solidFill>
              </a:rPr>
              <a:t>Heart Rate</a:t>
            </a:r>
          </a:p>
        </p:txBody>
      </p:sp>
      <p:sp>
        <p:nvSpPr>
          <p:cNvPr id="7" name="Rounded Rectangle 6"/>
          <p:cNvSpPr/>
          <p:nvPr/>
        </p:nvSpPr>
        <p:spPr>
          <a:xfrm>
            <a:off x="7543800" y="1463040"/>
            <a:ext cx="1920240" cy="685800"/>
          </a:xfrm>
          <a:prstGeom prst="roundRect">
            <a:avLst/>
          </a:prstGeom>
          <a:solidFill>
            <a:srgbClr val="F2F6F8"/>
          </a:solidFill>
          <a:ln>
            <a:solidFill>
              <a:srgbClr val="1E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42237"/>
                </a:solidFill>
              </a:rPr>
              <a:t>Body Temperature</a:t>
            </a:r>
          </a:p>
        </p:txBody>
      </p:sp>
      <p:sp>
        <p:nvSpPr>
          <p:cNvPr id="8" name="Rounded Rectangle 7"/>
          <p:cNvSpPr/>
          <p:nvPr/>
        </p:nvSpPr>
        <p:spPr>
          <a:xfrm>
            <a:off x="9784080" y="1463040"/>
            <a:ext cx="1920240" cy="685800"/>
          </a:xfrm>
          <a:prstGeom prst="roundRect">
            <a:avLst/>
          </a:prstGeom>
          <a:solidFill>
            <a:srgbClr val="F2F6F8"/>
          </a:solidFill>
          <a:ln>
            <a:solidFill>
              <a:srgbClr val="1E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42237"/>
                </a:solidFill>
              </a:rPr>
              <a:t>SPO2</a:t>
            </a:r>
          </a:p>
        </p:txBody>
      </p:sp>
      <p:sp>
        <p:nvSpPr>
          <p:cNvPr id="9" name="TextBox 8"/>
          <p:cNvSpPr txBox="1"/>
          <p:nvPr/>
        </p:nvSpPr>
        <p:spPr>
          <a:xfrm>
            <a:off x="822960" y="2926080"/>
            <a:ext cx="10515600" cy="4480560"/>
          </a:xfrm>
          <a:prstGeom prst="rect">
            <a:avLst/>
          </a:prstGeom>
          <a:noFill/>
        </p:spPr>
        <p:txBody>
          <a:bodyPr wrap="square">
            <a:spAutoFit/>
          </a:bodyPr>
          <a:lstStyle/>
          <a:p>
            <a:pPr>
              <a:spcAft>
                <a:spcPts val="1000"/>
              </a:spcAft>
              <a:defRPr sz="1700" b="0">
                <a:solidFill>
                  <a:srgbClr val="1E2830"/>
                </a:solidFill>
              </a:defRPr>
            </a:pPr>
            <a:r>
              <a:t>Primary 250-row model: 5 physiological variables × 2 statistics = 10 features.</a:t>
            </a:r>
          </a:p>
          <a:p>
            <a:pPr>
              <a:spcAft>
                <a:spcPts val="1000"/>
              </a:spcAft>
              <a:defRPr sz="1700" b="0">
                <a:solidFill>
                  <a:srgbClr val="1E2830"/>
                </a:solidFill>
              </a:defRPr>
            </a:pPr>
            <a:r>
              <a:t>Statistics: past-only rolling mean and rolling standard deviation.</a:t>
            </a:r>
          </a:p>
          <a:p>
            <a:pPr>
              <a:spcAft>
                <a:spcPts val="1000"/>
              </a:spcAft>
              <a:defRPr sz="1700" b="0">
                <a:solidFill>
                  <a:srgbClr val="1E2830"/>
                </a:solidFill>
              </a:defRPr>
            </a:pPr>
            <a:r>
              <a:t>Sweating and shivering were used in earlier point-in-time experiments but are not part of the primary 250-row rolling feature vector.</a:t>
            </a:r>
          </a:p>
          <a:p>
            <a:pPr>
              <a:spcAft>
                <a:spcPts val="1000"/>
              </a:spcAft>
              <a:defRPr sz="1700" b="0">
                <a:solidFill>
                  <a:srgbClr val="1E2830"/>
                </a:solidFill>
              </a:defRPr>
            </a:pPr>
            <a:r>
              <a:t>Current BGL is never used to construct its own primary features.</a:t>
            </a:r>
          </a:p>
        </p:txBody>
      </p:sp>
      <p:sp>
        <p:nvSpPr>
          <p:cNvPr id="10" name="Rectangle 9"/>
          <p:cNvSpPr/>
          <p:nvPr/>
        </p:nvSpPr>
        <p:spPr>
          <a:xfrm>
            <a:off x="594360" y="6510528"/>
            <a:ext cx="10972800" cy="18288"/>
          </a:xfrm>
          <a:prstGeom prst="rect">
            <a:avLst/>
          </a:prstGeom>
          <a:solidFill>
            <a:srgbClr val="DC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6556248"/>
            <a:ext cx="10515600" cy="182880"/>
          </a:xfrm>
          <a:prstGeom prst="rect">
            <a:avLst/>
          </a:prstGeom>
          <a:noFill/>
        </p:spPr>
        <p:txBody>
          <a:bodyPr wrap="none">
            <a:spAutoFit/>
          </a:bodyPr>
          <a:lstStyle/>
          <a:p>
            <a:r>
              <a:rPr sz="800">
                <a:solidFill>
                  <a:srgbClr val="5F6E78"/>
                </a:solidFill>
              </a:rPr>
              <a:t>BGL Wearable Estimation • Engineering Review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640080"/>
          </a:xfrm>
          <a:prstGeom prst="rect">
            <a:avLst/>
          </a:prstGeom>
          <a:noFill/>
        </p:spPr>
        <p:txBody>
          <a:bodyPr wrap="none">
            <a:spAutoFit/>
          </a:bodyPr>
          <a:lstStyle/>
          <a:p>
            <a:r>
              <a:rPr sz="2700" b="1">
                <a:solidFill>
                  <a:srgbClr val="142237"/>
                </a:solidFill>
              </a:rPr>
              <a:t>End-to-End Architecture</a:t>
            </a:r>
          </a:p>
        </p:txBody>
      </p:sp>
      <p:sp>
        <p:nvSpPr>
          <p:cNvPr id="4" name="Rounded Rectangle 3"/>
          <p:cNvSpPr/>
          <p:nvPr/>
        </p:nvSpPr>
        <p:spPr>
          <a:xfrm>
            <a:off x="411480" y="2011680"/>
            <a:ext cx="1417320" cy="822960"/>
          </a:xfrm>
          <a:prstGeom prst="roundRect">
            <a:avLst/>
          </a:prstGeom>
          <a:solidFill>
            <a:srgbClr val="F2F6F8"/>
          </a:solidFill>
          <a:ln>
            <a:solidFill>
              <a:srgbClr val="1E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42237"/>
                </a:solidFill>
              </a:rPr>
              <a:t>Raw Excel</a:t>
            </a:r>
          </a:p>
        </p:txBody>
      </p:sp>
      <p:cxnSp>
        <p:nvCxnSpPr>
          <p:cNvPr id="5" name="Connector 4"/>
          <p:cNvCxnSpPr/>
          <p:nvPr/>
        </p:nvCxnSpPr>
        <p:spPr>
          <a:xfrm>
            <a:off x="1828800" y="2423160"/>
            <a:ext cx="228600" cy="0"/>
          </a:xfrm>
          <a:prstGeom prst="line">
            <a:avLst/>
          </a:prstGeom>
          <a:ln w="27940">
            <a:solidFill>
              <a:srgbClr val="1E828C"/>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2057400" y="2011680"/>
            <a:ext cx="1417320" cy="822960"/>
          </a:xfrm>
          <a:prstGeom prst="roundRect">
            <a:avLst/>
          </a:prstGeom>
          <a:solidFill>
            <a:srgbClr val="F2F6F8"/>
          </a:solidFill>
          <a:ln>
            <a:solidFill>
              <a:srgbClr val="1E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42237"/>
                </a:solidFill>
              </a:rPr>
              <a:t>Cleaning</a:t>
            </a:r>
          </a:p>
        </p:txBody>
      </p:sp>
      <p:cxnSp>
        <p:nvCxnSpPr>
          <p:cNvPr id="7" name="Connector 6"/>
          <p:cNvCxnSpPr/>
          <p:nvPr/>
        </p:nvCxnSpPr>
        <p:spPr>
          <a:xfrm>
            <a:off x="3474720" y="2423160"/>
            <a:ext cx="320040" cy="0"/>
          </a:xfrm>
          <a:prstGeom prst="line">
            <a:avLst/>
          </a:prstGeom>
          <a:ln w="27940">
            <a:solidFill>
              <a:srgbClr val="1E828C"/>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794760" y="2011680"/>
            <a:ext cx="1417320" cy="822960"/>
          </a:xfrm>
          <a:prstGeom prst="roundRect">
            <a:avLst/>
          </a:prstGeom>
          <a:solidFill>
            <a:srgbClr val="F2F6F8"/>
          </a:solidFill>
          <a:ln>
            <a:solidFill>
              <a:srgbClr val="1E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42237"/>
                </a:solidFill>
              </a:rPr>
              <a:t>Past-only</a:t>
            </a:r>
            <a:br/>
            <a:r>
              <a:t>250-row features</a:t>
            </a:r>
          </a:p>
        </p:txBody>
      </p:sp>
      <p:cxnSp>
        <p:nvCxnSpPr>
          <p:cNvPr id="9" name="Connector 8"/>
          <p:cNvCxnSpPr/>
          <p:nvPr/>
        </p:nvCxnSpPr>
        <p:spPr>
          <a:xfrm>
            <a:off x="5212080" y="2423160"/>
            <a:ext cx="502920" cy="0"/>
          </a:xfrm>
          <a:prstGeom prst="line">
            <a:avLst/>
          </a:prstGeom>
          <a:ln w="27940">
            <a:solidFill>
              <a:srgbClr val="1E828C"/>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715000" y="2011680"/>
            <a:ext cx="1417320" cy="822960"/>
          </a:xfrm>
          <a:prstGeom prst="roundRect">
            <a:avLst/>
          </a:prstGeom>
          <a:solidFill>
            <a:srgbClr val="F2F6F8"/>
          </a:solidFill>
          <a:ln>
            <a:solidFill>
              <a:srgbClr val="1E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42237"/>
                </a:solidFill>
              </a:rPr>
              <a:t>History-based</a:t>
            </a:r>
            <a:br/>
            <a:r>
              <a:t>dataset</a:t>
            </a:r>
          </a:p>
        </p:txBody>
      </p:sp>
      <p:cxnSp>
        <p:nvCxnSpPr>
          <p:cNvPr id="11" name="Connector 10"/>
          <p:cNvCxnSpPr/>
          <p:nvPr/>
        </p:nvCxnSpPr>
        <p:spPr>
          <a:xfrm>
            <a:off x="7132320" y="2423160"/>
            <a:ext cx="502920" cy="0"/>
          </a:xfrm>
          <a:prstGeom prst="line">
            <a:avLst/>
          </a:prstGeom>
          <a:ln w="27940">
            <a:solidFill>
              <a:srgbClr val="1E828C"/>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635240" y="2011680"/>
            <a:ext cx="1417320" cy="822960"/>
          </a:xfrm>
          <a:prstGeom prst="roundRect">
            <a:avLst/>
          </a:prstGeom>
          <a:solidFill>
            <a:srgbClr val="F2F6F8"/>
          </a:solidFill>
          <a:ln>
            <a:solidFill>
              <a:srgbClr val="1E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42237"/>
                </a:solidFill>
              </a:rPr>
              <a:t>CatBoost</a:t>
            </a:r>
            <a:br/>
            <a:r>
              <a:t>regression</a:t>
            </a:r>
          </a:p>
        </p:txBody>
      </p:sp>
      <p:cxnSp>
        <p:nvCxnSpPr>
          <p:cNvPr id="13" name="Connector 12"/>
          <p:cNvCxnSpPr/>
          <p:nvPr/>
        </p:nvCxnSpPr>
        <p:spPr>
          <a:xfrm>
            <a:off x="9052560" y="2423160"/>
            <a:ext cx="502920" cy="0"/>
          </a:xfrm>
          <a:prstGeom prst="line">
            <a:avLst/>
          </a:prstGeom>
          <a:ln w="27940">
            <a:solidFill>
              <a:srgbClr val="1E828C"/>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9555480" y="2011680"/>
            <a:ext cx="1417320" cy="822960"/>
          </a:xfrm>
          <a:prstGeom prst="roundRect">
            <a:avLst/>
          </a:prstGeom>
          <a:solidFill>
            <a:srgbClr val="F2F6F8"/>
          </a:solidFill>
          <a:ln>
            <a:solidFill>
              <a:srgbClr val="1E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42237"/>
                </a:solidFill>
              </a:rPr>
              <a:t>BGL</a:t>
            </a:r>
            <a:br/>
            <a:r>
              <a:t>prediction</a:t>
            </a:r>
          </a:p>
        </p:txBody>
      </p:sp>
      <p:cxnSp>
        <p:nvCxnSpPr>
          <p:cNvPr id="15" name="Connector 14"/>
          <p:cNvCxnSpPr/>
          <p:nvPr/>
        </p:nvCxnSpPr>
        <p:spPr>
          <a:xfrm>
            <a:off x="10972800" y="2423160"/>
            <a:ext cx="0" cy="0"/>
          </a:xfrm>
          <a:prstGeom prst="line">
            <a:avLst/>
          </a:prstGeom>
          <a:ln w="27940">
            <a:solidFill>
              <a:srgbClr val="1E828C"/>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10972800" y="2011680"/>
            <a:ext cx="914400" cy="822960"/>
          </a:xfrm>
          <a:prstGeom prst="roundRect">
            <a:avLst/>
          </a:prstGeom>
          <a:solidFill>
            <a:srgbClr val="F2F6F8"/>
          </a:solidFill>
          <a:ln>
            <a:solidFill>
              <a:srgbClr val="1E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42237"/>
                </a:solidFill>
              </a:rPr>
              <a:t>Audit +</a:t>
            </a:r>
            <a:br/>
            <a:r>
              <a:t>evaluation</a:t>
            </a:r>
          </a:p>
        </p:txBody>
      </p:sp>
      <p:sp>
        <p:nvSpPr>
          <p:cNvPr id="17" name="TextBox 16"/>
          <p:cNvSpPr txBox="1"/>
          <p:nvPr/>
        </p:nvSpPr>
        <p:spPr>
          <a:xfrm>
            <a:off x="822960" y="3840480"/>
            <a:ext cx="10515600" cy="4480560"/>
          </a:xfrm>
          <a:prstGeom prst="rect">
            <a:avLst/>
          </a:prstGeom>
          <a:noFill/>
        </p:spPr>
        <p:txBody>
          <a:bodyPr wrap="square">
            <a:spAutoFit/>
          </a:bodyPr>
          <a:lstStyle/>
          <a:p>
            <a:pPr>
              <a:spcAft>
                <a:spcPts val="1000"/>
              </a:spcAft>
              <a:defRPr sz="1700" b="0">
                <a:solidFill>
                  <a:srgbClr val="1E2830"/>
                </a:solidFill>
              </a:defRPr>
            </a:pPr>
            <a:r>
              <a:t>Validation is performed on held-out rows in the legacy experiment and on held-out participant groups in the stronger audit design.</a:t>
            </a:r>
          </a:p>
          <a:p>
            <a:pPr>
              <a:spcAft>
                <a:spcPts val="1000"/>
              </a:spcAft>
              <a:defRPr sz="1700" b="0">
                <a:solidFill>
                  <a:srgbClr val="1E2830"/>
                </a:solidFill>
              </a:defRPr>
            </a:pPr>
            <a:r>
              <a:t>The two-stage regime experiment is retained as analysis, not as the primary model.</a:t>
            </a:r>
          </a:p>
        </p:txBody>
      </p:sp>
      <p:sp>
        <p:nvSpPr>
          <p:cNvPr id="18" name="Rectangle 17"/>
          <p:cNvSpPr/>
          <p:nvPr/>
        </p:nvSpPr>
        <p:spPr>
          <a:xfrm>
            <a:off x="594360" y="6510528"/>
            <a:ext cx="10972800" cy="18288"/>
          </a:xfrm>
          <a:prstGeom prst="rect">
            <a:avLst/>
          </a:prstGeom>
          <a:solidFill>
            <a:srgbClr val="DC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 y="6556248"/>
            <a:ext cx="10515600" cy="182880"/>
          </a:xfrm>
          <a:prstGeom prst="rect">
            <a:avLst/>
          </a:prstGeom>
          <a:noFill/>
        </p:spPr>
        <p:txBody>
          <a:bodyPr wrap="none">
            <a:spAutoFit/>
          </a:bodyPr>
          <a:lstStyle/>
          <a:p>
            <a:r>
              <a:rPr sz="800">
                <a:solidFill>
                  <a:srgbClr val="5F6E78"/>
                </a:solidFill>
              </a:rPr>
              <a:t>BGL Wearable Estimation • Engineering Review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640080"/>
          </a:xfrm>
          <a:prstGeom prst="rect">
            <a:avLst/>
          </a:prstGeom>
          <a:noFill/>
        </p:spPr>
        <p:txBody>
          <a:bodyPr wrap="none">
            <a:spAutoFit/>
          </a:bodyPr>
          <a:lstStyle/>
          <a:p>
            <a:r>
              <a:rPr sz="2700" b="1">
                <a:solidFill>
                  <a:srgbClr val="142237"/>
                </a:solidFill>
              </a:rPr>
              <a:t>Data Preprocessing</a:t>
            </a:r>
          </a:p>
        </p:txBody>
      </p:sp>
      <p:sp>
        <p:nvSpPr>
          <p:cNvPr id="4" name="Rounded Rectangle 3"/>
          <p:cNvSpPr/>
          <p:nvPr/>
        </p:nvSpPr>
        <p:spPr>
          <a:xfrm>
            <a:off x="685800" y="1417320"/>
            <a:ext cx="3154680" cy="777240"/>
          </a:xfrm>
          <a:prstGeom prst="roundRect">
            <a:avLst/>
          </a:prstGeom>
          <a:solidFill>
            <a:srgbClr val="F2F6F8"/>
          </a:solidFill>
          <a:ln>
            <a:solidFill>
              <a:srgbClr val="1E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42237"/>
                </a:solidFill>
              </a:rPr>
              <a:t>Strip column whitespace</a:t>
            </a:r>
          </a:p>
        </p:txBody>
      </p:sp>
      <p:sp>
        <p:nvSpPr>
          <p:cNvPr id="5" name="Rounded Rectangle 4"/>
          <p:cNvSpPr/>
          <p:nvPr/>
        </p:nvSpPr>
        <p:spPr>
          <a:xfrm>
            <a:off x="4434840" y="1417320"/>
            <a:ext cx="3154680" cy="777240"/>
          </a:xfrm>
          <a:prstGeom prst="roundRect">
            <a:avLst/>
          </a:prstGeom>
          <a:solidFill>
            <a:srgbClr val="F2F6F8"/>
          </a:solidFill>
          <a:ln>
            <a:solidFill>
              <a:srgbClr val="1E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42237"/>
                </a:solidFill>
              </a:rPr>
              <a:t>Remove 272 duplicates</a:t>
            </a:r>
          </a:p>
        </p:txBody>
      </p:sp>
      <p:sp>
        <p:nvSpPr>
          <p:cNvPr id="6" name="Rounded Rectangle 5"/>
          <p:cNvSpPr/>
          <p:nvPr/>
        </p:nvSpPr>
        <p:spPr>
          <a:xfrm>
            <a:off x="8183879" y="1417320"/>
            <a:ext cx="3154680" cy="777240"/>
          </a:xfrm>
          <a:prstGeom prst="roundRect">
            <a:avLst/>
          </a:prstGeom>
          <a:solidFill>
            <a:srgbClr val="F2F6F8"/>
          </a:solidFill>
          <a:ln>
            <a:solidFill>
              <a:srgbClr val="1E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42237"/>
                </a:solidFill>
              </a:rPr>
              <a:t>Encode D/N: D→1, N→0</a:t>
            </a:r>
          </a:p>
        </p:txBody>
      </p:sp>
      <p:sp>
        <p:nvSpPr>
          <p:cNvPr id="7" name="Rounded Rectangle 6"/>
          <p:cNvSpPr/>
          <p:nvPr/>
        </p:nvSpPr>
        <p:spPr>
          <a:xfrm>
            <a:off x="685800" y="2926080"/>
            <a:ext cx="3154680" cy="777240"/>
          </a:xfrm>
          <a:prstGeom prst="roundRect">
            <a:avLst/>
          </a:prstGeom>
          <a:solidFill>
            <a:srgbClr val="F2F6F8"/>
          </a:solidFill>
          <a:ln>
            <a:solidFill>
              <a:srgbClr val="1E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42237"/>
                </a:solidFill>
              </a:rPr>
              <a:t>Keep original row order</a:t>
            </a:r>
          </a:p>
        </p:txBody>
      </p:sp>
      <p:sp>
        <p:nvSpPr>
          <p:cNvPr id="8" name="Rounded Rectangle 7"/>
          <p:cNvSpPr/>
          <p:nvPr/>
        </p:nvSpPr>
        <p:spPr>
          <a:xfrm>
            <a:off x="4434840" y="2926080"/>
            <a:ext cx="3154680" cy="777240"/>
          </a:xfrm>
          <a:prstGeom prst="roundRect">
            <a:avLst/>
          </a:prstGeom>
          <a:solidFill>
            <a:srgbClr val="F2F6F8"/>
          </a:solidFill>
          <a:ln>
            <a:solidFill>
              <a:srgbClr val="1E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42237"/>
                </a:solidFill>
              </a:rPr>
              <a:t>No scaling for tree models</a:t>
            </a:r>
          </a:p>
        </p:txBody>
      </p:sp>
      <p:sp>
        <p:nvSpPr>
          <p:cNvPr id="9" name="TextBox 8"/>
          <p:cNvSpPr txBox="1"/>
          <p:nvPr/>
        </p:nvSpPr>
        <p:spPr>
          <a:xfrm>
            <a:off x="822960" y="4663440"/>
            <a:ext cx="10515600" cy="4480560"/>
          </a:xfrm>
          <a:prstGeom prst="rect">
            <a:avLst/>
          </a:prstGeom>
          <a:noFill/>
        </p:spPr>
        <p:txBody>
          <a:bodyPr wrap="square">
            <a:spAutoFit/>
          </a:bodyPr>
          <a:lstStyle/>
          <a:p>
            <a:pPr>
              <a:spcAft>
                <a:spcPts val="1000"/>
              </a:spcAft>
              <a:defRPr sz="1600" b="0">
                <a:solidFill>
                  <a:srgbClr val="1E2830"/>
                </a:solidFill>
              </a:defRPr>
            </a:pPr>
            <a:r>
              <a:t>The pipeline does not sort by Age because the dataset's row order is part of the temporal sequence being investigated.</a:t>
            </a:r>
          </a:p>
          <a:p>
            <a:pPr>
              <a:spcAft>
                <a:spcPts val="1000"/>
              </a:spcAft>
              <a:defRPr sz="1600" b="0">
                <a:solidFill>
                  <a:srgbClr val="1E2830"/>
                </a:solidFill>
              </a:defRPr>
            </a:pPr>
            <a:r>
              <a:t>A derived block analysis later showed that the same Age appears in many separated blocks — an unresolved structural issue.</a:t>
            </a:r>
          </a:p>
        </p:txBody>
      </p:sp>
      <p:sp>
        <p:nvSpPr>
          <p:cNvPr id="10" name="Rectangle 9"/>
          <p:cNvSpPr/>
          <p:nvPr/>
        </p:nvSpPr>
        <p:spPr>
          <a:xfrm>
            <a:off x="594360" y="6510528"/>
            <a:ext cx="10972800" cy="18288"/>
          </a:xfrm>
          <a:prstGeom prst="rect">
            <a:avLst/>
          </a:prstGeom>
          <a:solidFill>
            <a:srgbClr val="DC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6556248"/>
            <a:ext cx="10515600" cy="182880"/>
          </a:xfrm>
          <a:prstGeom prst="rect">
            <a:avLst/>
          </a:prstGeom>
          <a:noFill/>
        </p:spPr>
        <p:txBody>
          <a:bodyPr wrap="none">
            <a:spAutoFit/>
          </a:bodyPr>
          <a:lstStyle/>
          <a:p>
            <a:r>
              <a:rPr sz="800">
                <a:solidFill>
                  <a:srgbClr val="5F6E78"/>
                </a:solidFill>
              </a:rPr>
              <a:t>BGL Wearable Estimation • Engineering Review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640080"/>
          </a:xfrm>
          <a:prstGeom prst="rect">
            <a:avLst/>
          </a:prstGeom>
          <a:noFill/>
        </p:spPr>
        <p:txBody>
          <a:bodyPr wrap="none">
            <a:spAutoFit/>
          </a:bodyPr>
          <a:lstStyle/>
          <a:p>
            <a:r>
              <a:rPr sz="2700" b="1">
                <a:solidFill>
                  <a:srgbClr val="142237"/>
                </a:solidFill>
              </a:rPr>
              <a:t>The 250-Row Rolling Window</a:t>
            </a:r>
          </a:p>
        </p:txBody>
      </p:sp>
      <p:sp>
        <p:nvSpPr>
          <p:cNvPr id="4" name="TextBox 3"/>
          <p:cNvSpPr txBox="1"/>
          <p:nvPr/>
        </p:nvSpPr>
        <p:spPr>
          <a:xfrm>
            <a:off x="621792" y="960120"/>
            <a:ext cx="10789920" cy="411480"/>
          </a:xfrm>
          <a:prstGeom prst="rect">
            <a:avLst/>
          </a:prstGeom>
          <a:noFill/>
        </p:spPr>
        <p:txBody>
          <a:bodyPr wrap="none">
            <a:spAutoFit/>
          </a:bodyPr>
          <a:lstStyle/>
          <a:p>
            <a:r>
              <a:rPr sz="1200">
                <a:solidFill>
                  <a:srgbClr val="5F6E78"/>
                </a:solidFill>
              </a:rPr>
              <a:t>Past-only physiological history</a:t>
            </a:r>
          </a:p>
        </p:txBody>
      </p:sp>
      <p:sp>
        <p:nvSpPr>
          <p:cNvPr id="5" name="Rectangle 4"/>
          <p:cNvSpPr/>
          <p:nvPr/>
        </p:nvSpPr>
        <p:spPr>
          <a:xfrm>
            <a:off x="822960" y="1920240"/>
            <a:ext cx="621792" cy="502920"/>
          </a:xfrm>
          <a:prstGeom prst="rect">
            <a:avLst/>
          </a:prstGeom>
          <a:solidFill>
            <a:srgbClr val="F2F6F8"/>
          </a:solidFill>
          <a:ln>
            <a:solidFill>
              <a:srgbClr val="1E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481328" y="1920240"/>
            <a:ext cx="621792" cy="502920"/>
          </a:xfrm>
          <a:prstGeom prst="rect">
            <a:avLst/>
          </a:prstGeom>
          <a:solidFill>
            <a:srgbClr val="F2F6F8"/>
          </a:solidFill>
          <a:ln>
            <a:solidFill>
              <a:srgbClr val="1E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139696" y="1920240"/>
            <a:ext cx="621792" cy="502920"/>
          </a:xfrm>
          <a:prstGeom prst="rect">
            <a:avLst/>
          </a:prstGeom>
          <a:solidFill>
            <a:srgbClr val="F2F6F8"/>
          </a:solidFill>
          <a:ln>
            <a:solidFill>
              <a:srgbClr val="1E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98064" y="1920240"/>
            <a:ext cx="621792" cy="502920"/>
          </a:xfrm>
          <a:prstGeom prst="rect">
            <a:avLst/>
          </a:prstGeom>
          <a:solidFill>
            <a:srgbClr val="F2F6F8"/>
          </a:solidFill>
          <a:ln>
            <a:solidFill>
              <a:srgbClr val="1E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456432" y="1920240"/>
            <a:ext cx="621792" cy="502920"/>
          </a:xfrm>
          <a:prstGeom prst="rect">
            <a:avLst/>
          </a:prstGeom>
          <a:solidFill>
            <a:srgbClr val="F2F6F8"/>
          </a:solidFill>
          <a:ln>
            <a:solidFill>
              <a:srgbClr val="1E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0" y="1920240"/>
            <a:ext cx="621792" cy="502920"/>
          </a:xfrm>
          <a:prstGeom prst="rect">
            <a:avLst/>
          </a:prstGeom>
          <a:solidFill>
            <a:srgbClr val="F2F6F8"/>
          </a:solidFill>
          <a:ln>
            <a:solidFill>
              <a:srgbClr val="1E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773168" y="1920240"/>
            <a:ext cx="621792" cy="502920"/>
          </a:xfrm>
          <a:prstGeom prst="rect">
            <a:avLst/>
          </a:prstGeom>
          <a:solidFill>
            <a:srgbClr val="F2F6F8"/>
          </a:solidFill>
          <a:ln>
            <a:solidFill>
              <a:srgbClr val="1E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31536" y="1920240"/>
            <a:ext cx="621792" cy="502920"/>
          </a:xfrm>
          <a:prstGeom prst="rect">
            <a:avLst/>
          </a:prstGeom>
          <a:solidFill>
            <a:srgbClr val="DCEEF0"/>
          </a:solidFill>
          <a:ln>
            <a:solidFill>
              <a:srgbClr val="1E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089904" y="1920240"/>
            <a:ext cx="621792" cy="502920"/>
          </a:xfrm>
          <a:prstGeom prst="rect">
            <a:avLst/>
          </a:prstGeom>
          <a:solidFill>
            <a:srgbClr val="DCEEF0"/>
          </a:solidFill>
          <a:ln>
            <a:solidFill>
              <a:srgbClr val="1E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748272" y="1920240"/>
            <a:ext cx="621792" cy="502920"/>
          </a:xfrm>
          <a:prstGeom prst="rect">
            <a:avLst/>
          </a:prstGeom>
          <a:solidFill>
            <a:srgbClr val="DCEEF0"/>
          </a:solidFill>
          <a:ln>
            <a:solidFill>
              <a:srgbClr val="1E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06640" y="1920240"/>
            <a:ext cx="621792" cy="502920"/>
          </a:xfrm>
          <a:prstGeom prst="rect">
            <a:avLst/>
          </a:prstGeom>
          <a:solidFill>
            <a:srgbClr val="DCEEF0"/>
          </a:solidFill>
          <a:ln>
            <a:solidFill>
              <a:srgbClr val="1E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65008" y="1920240"/>
            <a:ext cx="621792" cy="502920"/>
          </a:xfrm>
          <a:prstGeom prst="rect">
            <a:avLst/>
          </a:prstGeom>
          <a:solidFill>
            <a:srgbClr val="DCEEF0"/>
          </a:solidFill>
          <a:ln>
            <a:solidFill>
              <a:srgbClr val="1E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1325880"/>
            <a:ext cx="7315200" cy="365760"/>
          </a:xfrm>
          <a:prstGeom prst="rect">
            <a:avLst/>
          </a:prstGeom>
          <a:noFill/>
        </p:spPr>
        <p:txBody>
          <a:bodyPr wrap="none">
            <a:spAutoFit/>
          </a:bodyPr>
          <a:lstStyle/>
          <a:p>
            <a:r>
              <a:rPr sz="1600" b="1"/>
              <a:t>t-250 … t-2   t-1   |   t (prediction)</a:t>
            </a:r>
          </a:p>
        </p:txBody>
      </p:sp>
      <p:sp>
        <p:nvSpPr>
          <p:cNvPr id="18" name="TextBox 17"/>
          <p:cNvSpPr txBox="1"/>
          <p:nvPr/>
        </p:nvSpPr>
        <p:spPr>
          <a:xfrm>
            <a:off x="822960" y="2880360"/>
            <a:ext cx="10515600" cy="4480560"/>
          </a:xfrm>
          <a:prstGeom prst="rect">
            <a:avLst/>
          </a:prstGeom>
          <a:noFill/>
        </p:spPr>
        <p:txBody>
          <a:bodyPr wrap="square">
            <a:spAutoFit/>
          </a:bodyPr>
          <a:lstStyle/>
          <a:p>
            <a:pPr>
              <a:spcAft>
                <a:spcPts val="1000"/>
              </a:spcAft>
              <a:defRPr sz="1700" b="0">
                <a:solidFill>
                  <a:srgbClr val="1E2830"/>
                </a:solidFill>
              </a:defRPr>
            </a:pPr>
            <a:r>
              <a:t>Implementation: shift each physiological series by one observation, then apply a 250-observation rolling mean/std within the Age group.</a:t>
            </a:r>
          </a:p>
          <a:p>
            <a:pPr>
              <a:spcAft>
                <a:spcPts val="1000"/>
              </a:spcAft>
              <a:defRPr sz="1700" b="0">
                <a:solidFill>
                  <a:srgbClr val="1E2830"/>
                </a:solidFill>
              </a:defRPr>
            </a:pPr>
            <a:r>
              <a:t>The current row is therefore excluded from its own rolling features.</a:t>
            </a:r>
          </a:p>
          <a:p>
            <a:pPr>
              <a:spcAft>
                <a:spcPts val="1000"/>
              </a:spcAft>
              <a:defRPr sz="1700" b="0">
                <a:solidFill>
                  <a:srgbClr val="1E2830"/>
                </a:solidFill>
              </a:defRPr>
            </a:pPr>
            <a:r>
              <a:t>First usable row requires 250 previous observations; adjacent predictions have heavily overlapping windows.</a:t>
            </a:r>
          </a:p>
        </p:txBody>
      </p:sp>
      <p:sp>
        <p:nvSpPr>
          <p:cNvPr id="19" name="Rectangle 18"/>
          <p:cNvSpPr/>
          <p:nvPr/>
        </p:nvSpPr>
        <p:spPr>
          <a:xfrm>
            <a:off x="594360" y="6510528"/>
            <a:ext cx="10972800" cy="18288"/>
          </a:xfrm>
          <a:prstGeom prst="rect">
            <a:avLst/>
          </a:prstGeom>
          <a:solidFill>
            <a:srgbClr val="DC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 y="6556248"/>
            <a:ext cx="10515600" cy="182880"/>
          </a:xfrm>
          <a:prstGeom prst="rect">
            <a:avLst/>
          </a:prstGeom>
          <a:noFill/>
        </p:spPr>
        <p:txBody>
          <a:bodyPr wrap="none">
            <a:spAutoFit/>
          </a:bodyPr>
          <a:lstStyle/>
          <a:p>
            <a:r>
              <a:rPr sz="800">
                <a:solidFill>
                  <a:srgbClr val="5F6E78"/>
                </a:solidFill>
              </a:rPr>
              <a:t>BGL Wearable Estimation • Engineering Review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640080"/>
          </a:xfrm>
          <a:prstGeom prst="rect">
            <a:avLst/>
          </a:prstGeom>
          <a:noFill/>
        </p:spPr>
        <p:txBody>
          <a:bodyPr wrap="none">
            <a:spAutoFit/>
          </a:bodyPr>
          <a:lstStyle/>
          <a:p>
            <a:r>
              <a:rPr sz="2700" b="1">
                <a:solidFill>
                  <a:srgbClr val="142237"/>
                </a:solidFill>
              </a:rPr>
              <a:t>Why Historical Context?</a:t>
            </a:r>
          </a:p>
        </p:txBody>
      </p:sp>
      <p:sp>
        <p:nvSpPr>
          <p:cNvPr id="4" name="Rounded Rectangle 3"/>
          <p:cNvSpPr/>
          <p:nvPr/>
        </p:nvSpPr>
        <p:spPr>
          <a:xfrm>
            <a:off x="822960" y="1417320"/>
            <a:ext cx="2240280" cy="640080"/>
          </a:xfrm>
          <a:prstGeom prst="roundRect">
            <a:avLst/>
          </a:prstGeom>
          <a:solidFill>
            <a:srgbClr val="F2F6F8"/>
          </a:solidFill>
          <a:ln>
            <a:solidFill>
              <a:srgbClr val="1E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42237"/>
                </a:solidFill>
              </a:rPr>
              <a:t>1 row</a:t>
            </a:r>
          </a:p>
        </p:txBody>
      </p:sp>
      <p:sp>
        <p:nvSpPr>
          <p:cNvPr id="5" name="TextBox 4"/>
          <p:cNvSpPr txBox="1"/>
          <p:nvPr/>
        </p:nvSpPr>
        <p:spPr>
          <a:xfrm>
            <a:off x="868680" y="2240280"/>
            <a:ext cx="2148840" cy="731520"/>
          </a:xfrm>
          <a:prstGeom prst="rect">
            <a:avLst/>
          </a:prstGeom>
          <a:noFill/>
        </p:spPr>
        <p:txBody>
          <a:bodyPr wrap="none">
            <a:spAutoFit/>
          </a:bodyPr>
          <a:lstStyle/>
          <a:p>
            <a:pPr algn="ctr"/>
            <a:r>
              <a:rPr sz="1400">
                <a:solidFill>
                  <a:srgbClr val="5F6E78"/>
                </a:solidFill>
              </a:rPr>
              <a:t>single snapshot</a:t>
            </a:r>
          </a:p>
        </p:txBody>
      </p:sp>
      <p:sp>
        <p:nvSpPr>
          <p:cNvPr id="6" name="Rounded Rectangle 5"/>
          <p:cNvSpPr/>
          <p:nvPr/>
        </p:nvSpPr>
        <p:spPr>
          <a:xfrm>
            <a:off x="3611879" y="1417320"/>
            <a:ext cx="2240280" cy="640080"/>
          </a:xfrm>
          <a:prstGeom prst="roundRect">
            <a:avLst/>
          </a:prstGeom>
          <a:solidFill>
            <a:srgbClr val="F2F6F8"/>
          </a:solidFill>
          <a:ln>
            <a:solidFill>
              <a:srgbClr val="1E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42237"/>
                </a:solidFill>
              </a:rPr>
              <a:t>50 rows</a:t>
            </a:r>
          </a:p>
        </p:txBody>
      </p:sp>
      <p:sp>
        <p:nvSpPr>
          <p:cNvPr id="7" name="TextBox 6"/>
          <p:cNvSpPr txBox="1"/>
          <p:nvPr/>
        </p:nvSpPr>
        <p:spPr>
          <a:xfrm>
            <a:off x="3657600" y="2240280"/>
            <a:ext cx="2148840" cy="731520"/>
          </a:xfrm>
          <a:prstGeom prst="rect">
            <a:avLst/>
          </a:prstGeom>
          <a:noFill/>
        </p:spPr>
        <p:txBody>
          <a:bodyPr wrap="none">
            <a:spAutoFit/>
          </a:bodyPr>
          <a:lstStyle/>
          <a:p>
            <a:pPr algn="ctr"/>
            <a:r>
              <a:rPr sz="1400">
                <a:solidFill>
                  <a:srgbClr val="5F6E78"/>
                </a:solidFill>
              </a:rPr>
              <a:t>short history</a:t>
            </a:r>
          </a:p>
        </p:txBody>
      </p:sp>
      <p:sp>
        <p:nvSpPr>
          <p:cNvPr id="8" name="Rounded Rectangle 7"/>
          <p:cNvSpPr/>
          <p:nvPr/>
        </p:nvSpPr>
        <p:spPr>
          <a:xfrm>
            <a:off x="6400800" y="1417320"/>
            <a:ext cx="2240280" cy="640080"/>
          </a:xfrm>
          <a:prstGeom prst="roundRect">
            <a:avLst/>
          </a:prstGeom>
          <a:solidFill>
            <a:srgbClr val="F2F6F8"/>
          </a:solidFill>
          <a:ln>
            <a:solidFill>
              <a:srgbClr val="1E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42237"/>
                </a:solidFill>
              </a:rPr>
              <a:t>100 rows</a:t>
            </a:r>
          </a:p>
        </p:txBody>
      </p:sp>
      <p:sp>
        <p:nvSpPr>
          <p:cNvPr id="9" name="TextBox 8"/>
          <p:cNvSpPr txBox="1"/>
          <p:nvPr/>
        </p:nvSpPr>
        <p:spPr>
          <a:xfrm>
            <a:off x="6446520" y="2240280"/>
            <a:ext cx="2148840" cy="731520"/>
          </a:xfrm>
          <a:prstGeom prst="rect">
            <a:avLst/>
          </a:prstGeom>
          <a:noFill/>
        </p:spPr>
        <p:txBody>
          <a:bodyPr wrap="none">
            <a:spAutoFit/>
          </a:bodyPr>
          <a:lstStyle/>
          <a:p>
            <a:pPr algn="ctr"/>
            <a:r>
              <a:rPr sz="1400">
                <a:solidFill>
                  <a:srgbClr val="5F6E78"/>
                </a:solidFill>
              </a:rPr>
              <a:t>longer context</a:t>
            </a:r>
          </a:p>
        </p:txBody>
      </p:sp>
      <p:sp>
        <p:nvSpPr>
          <p:cNvPr id="10" name="Rounded Rectangle 9"/>
          <p:cNvSpPr/>
          <p:nvPr/>
        </p:nvSpPr>
        <p:spPr>
          <a:xfrm>
            <a:off x="9189719" y="1417320"/>
            <a:ext cx="2240280" cy="640080"/>
          </a:xfrm>
          <a:prstGeom prst="roundRect">
            <a:avLst/>
          </a:prstGeom>
          <a:solidFill>
            <a:srgbClr val="F2F6F8"/>
          </a:solidFill>
          <a:ln>
            <a:solidFill>
              <a:srgbClr val="1E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42237"/>
                </a:solidFill>
              </a:rPr>
              <a:t>150–250 rows</a:t>
            </a:r>
          </a:p>
        </p:txBody>
      </p:sp>
      <p:sp>
        <p:nvSpPr>
          <p:cNvPr id="11" name="TextBox 10"/>
          <p:cNvSpPr txBox="1"/>
          <p:nvPr/>
        </p:nvSpPr>
        <p:spPr>
          <a:xfrm>
            <a:off x="9235439" y="2240280"/>
            <a:ext cx="2148840" cy="731520"/>
          </a:xfrm>
          <a:prstGeom prst="rect">
            <a:avLst/>
          </a:prstGeom>
          <a:noFill/>
        </p:spPr>
        <p:txBody>
          <a:bodyPr wrap="none">
            <a:spAutoFit/>
          </a:bodyPr>
          <a:lstStyle/>
          <a:p>
            <a:pPr algn="ctr"/>
            <a:r>
              <a:rPr sz="1400">
                <a:solidFill>
                  <a:srgbClr val="5F6E78"/>
                </a:solidFill>
              </a:rPr>
              <a:t>long regime context</a:t>
            </a:r>
          </a:p>
        </p:txBody>
      </p:sp>
      <p:sp>
        <p:nvSpPr>
          <p:cNvPr id="12" name="TextBox 11"/>
          <p:cNvSpPr txBox="1"/>
          <p:nvPr/>
        </p:nvSpPr>
        <p:spPr>
          <a:xfrm>
            <a:off x="822960" y="3703320"/>
            <a:ext cx="10515600" cy="4480560"/>
          </a:xfrm>
          <a:prstGeom prst="rect">
            <a:avLst/>
          </a:prstGeom>
          <a:noFill/>
        </p:spPr>
        <p:txBody>
          <a:bodyPr wrap="square">
            <a:spAutoFit/>
          </a:bodyPr>
          <a:lstStyle/>
          <a:p>
            <a:pPr>
              <a:spcAft>
                <a:spcPts val="1000"/>
              </a:spcAft>
              <a:defRPr sz="1700" b="0">
                <a:solidFill>
                  <a:srgbClr val="1E2830"/>
                </a:solidFill>
              </a:defRPr>
            </a:pPr>
            <a:r>
              <a:t>Reported legacy validation RMSE improved monotonically as the window increased: 16.35 → 12.52 → 10.38 → 8.54 → 7.88.</a:t>
            </a:r>
          </a:p>
          <a:p>
            <a:pPr>
              <a:spcAft>
                <a:spcPts val="1000"/>
              </a:spcAft>
              <a:defRPr sz="1700" b="0">
                <a:solidFill>
                  <a:srgbClr val="1E2830"/>
                </a:solidFill>
              </a:defRPr>
            </a:pPr>
            <a:r>
              <a:t>This is evidence that the supplied dataset contains strong sequential structure — but not proof that the structure is clinically meaningful.</a:t>
            </a:r>
          </a:p>
          <a:p>
            <a:pPr>
              <a:spcAft>
                <a:spcPts val="1000"/>
              </a:spcAft>
              <a:defRPr sz="1700" b="0">
                <a:solidFill>
                  <a:srgbClr val="1E2830"/>
                </a:solidFill>
              </a:defRPr>
            </a:pPr>
            <a:r>
              <a:t>The persistence baseline reinforces this caution.</a:t>
            </a:r>
          </a:p>
        </p:txBody>
      </p:sp>
      <p:sp>
        <p:nvSpPr>
          <p:cNvPr id="13" name="Rectangle 12"/>
          <p:cNvSpPr/>
          <p:nvPr/>
        </p:nvSpPr>
        <p:spPr>
          <a:xfrm>
            <a:off x="594360" y="6510528"/>
            <a:ext cx="10972800" cy="18288"/>
          </a:xfrm>
          <a:prstGeom prst="rect">
            <a:avLst/>
          </a:prstGeom>
          <a:solidFill>
            <a:srgbClr val="DC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6556248"/>
            <a:ext cx="10515600" cy="182880"/>
          </a:xfrm>
          <a:prstGeom prst="rect">
            <a:avLst/>
          </a:prstGeom>
          <a:noFill/>
        </p:spPr>
        <p:txBody>
          <a:bodyPr wrap="none">
            <a:spAutoFit/>
          </a:bodyPr>
          <a:lstStyle/>
          <a:p>
            <a:r>
              <a:rPr sz="800">
                <a:solidFill>
                  <a:srgbClr val="5F6E78"/>
                </a:solidFill>
              </a:rPr>
              <a:t>BGL Wearable Estimation • Engineering Review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640080"/>
          </a:xfrm>
          <a:prstGeom prst="rect">
            <a:avLst/>
          </a:prstGeom>
          <a:noFill/>
        </p:spPr>
        <p:txBody>
          <a:bodyPr wrap="none">
            <a:spAutoFit/>
          </a:bodyPr>
          <a:lstStyle/>
          <a:p>
            <a:r>
              <a:rPr sz="2700" b="1">
                <a:solidFill>
                  <a:srgbClr val="142237"/>
                </a:solidFill>
              </a:rPr>
              <a:t>Train / Validation / Test Strategy</a:t>
            </a:r>
          </a:p>
        </p:txBody>
      </p:sp>
      <p:sp>
        <p:nvSpPr>
          <p:cNvPr id="4" name="Rounded Rectangle 3"/>
          <p:cNvSpPr/>
          <p:nvPr/>
        </p:nvSpPr>
        <p:spPr>
          <a:xfrm>
            <a:off x="822960" y="1371600"/>
            <a:ext cx="3291840" cy="1371600"/>
          </a:xfrm>
          <a:prstGeom prst="roundRect">
            <a:avLst/>
          </a:prstGeom>
          <a:solidFill>
            <a:srgbClr val="F2F6F8"/>
          </a:solidFill>
          <a:ln>
            <a:solidFill>
              <a:srgbClr val="D7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1371600"/>
            <a:ext cx="73152" cy="1371600"/>
          </a:xfrm>
          <a:prstGeom prst="rect">
            <a:avLst/>
          </a:prstGeom>
          <a:solidFill>
            <a:srgbClr val="CD91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 y="1536192"/>
            <a:ext cx="2971800" cy="1143000"/>
          </a:xfrm>
          <a:prstGeom prst="rect">
            <a:avLst/>
          </a:prstGeom>
          <a:noFill/>
        </p:spPr>
        <p:txBody>
          <a:bodyPr wrap="none">
            <a:spAutoFit/>
          </a:bodyPr>
          <a:lstStyle/>
          <a:p>
            <a:r>
              <a:rPr sz="1100">
                <a:solidFill>
                  <a:srgbClr val="5F6E78"/>
                </a:solidFill>
              </a:rPr>
              <a:t>LEGACY ROW SPLIT</a:t>
            </a:r>
          </a:p>
          <a:p>
            <a:r>
              <a:rPr sz="2400" b="1">
                <a:solidFill>
                  <a:srgbClr val="142237"/>
                </a:solidFill>
              </a:rPr>
              <a:t>70 / 15 / 15</a:t>
            </a:r>
          </a:p>
          <a:p>
            <a:r>
              <a:rPr sz="900">
                <a:solidFill>
                  <a:srgbClr val="5F6E78"/>
                </a:solidFill>
              </a:rPr>
              <a:t>Age used for stratification</a:t>
            </a:r>
          </a:p>
        </p:txBody>
      </p:sp>
      <p:sp>
        <p:nvSpPr>
          <p:cNvPr id="7" name="Rounded Rectangle 6"/>
          <p:cNvSpPr/>
          <p:nvPr/>
        </p:nvSpPr>
        <p:spPr>
          <a:xfrm>
            <a:off x="4434840" y="1371600"/>
            <a:ext cx="3291840" cy="1371600"/>
          </a:xfrm>
          <a:prstGeom prst="roundRect">
            <a:avLst/>
          </a:prstGeom>
          <a:solidFill>
            <a:srgbClr val="F2F6F8"/>
          </a:solidFill>
          <a:ln>
            <a:solidFill>
              <a:srgbClr val="D7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34840" y="1371600"/>
            <a:ext cx="73152" cy="1371600"/>
          </a:xfrm>
          <a:prstGeom prst="rect">
            <a:avLst/>
          </a:prstGeom>
          <a:solidFill>
            <a:srgbClr val="1E82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36007" y="1536192"/>
            <a:ext cx="2971800" cy="1143000"/>
          </a:xfrm>
          <a:prstGeom prst="rect">
            <a:avLst/>
          </a:prstGeom>
          <a:noFill/>
        </p:spPr>
        <p:txBody>
          <a:bodyPr wrap="none">
            <a:spAutoFit/>
          </a:bodyPr>
          <a:lstStyle/>
          <a:p>
            <a:r>
              <a:rPr sz="1100">
                <a:solidFill>
                  <a:srgbClr val="5F6E78"/>
                </a:solidFill>
              </a:rPr>
              <a:t>CLEAN PARTICIPANT SPLIT</a:t>
            </a:r>
          </a:p>
          <a:p>
            <a:r>
              <a:rPr sz="2400" b="1">
                <a:solidFill>
                  <a:srgbClr val="142237"/>
                </a:solidFill>
              </a:rPr>
              <a:t>4 / 2 / 1 groups</a:t>
            </a:r>
          </a:p>
          <a:p>
            <a:r>
              <a:rPr sz="900">
                <a:solidFill>
                  <a:srgbClr val="5F6E78"/>
                </a:solidFill>
              </a:rPr>
              <a:t>14,15,19,46 / 9,55 / 76</a:t>
            </a:r>
          </a:p>
        </p:txBody>
      </p:sp>
      <p:sp>
        <p:nvSpPr>
          <p:cNvPr id="10" name="Rounded Rectangle 9"/>
          <p:cNvSpPr/>
          <p:nvPr/>
        </p:nvSpPr>
        <p:spPr>
          <a:xfrm>
            <a:off x="8046720" y="1371600"/>
            <a:ext cx="3291840" cy="1371600"/>
          </a:xfrm>
          <a:prstGeom prst="roundRect">
            <a:avLst/>
          </a:prstGeom>
          <a:solidFill>
            <a:srgbClr val="F2F6F8"/>
          </a:solidFill>
          <a:ln>
            <a:solidFill>
              <a:srgbClr val="D7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046720" y="1371600"/>
            <a:ext cx="73152" cy="1371600"/>
          </a:xfrm>
          <a:prstGeom prst="rect">
            <a:avLst/>
          </a:prstGeom>
          <a:solidFill>
            <a:srgbClr val="2D8C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47888" y="1536192"/>
            <a:ext cx="2971800" cy="1143000"/>
          </a:xfrm>
          <a:prstGeom prst="rect">
            <a:avLst/>
          </a:prstGeom>
          <a:noFill/>
        </p:spPr>
        <p:txBody>
          <a:bodyPr wrap="none">
            <a:spAutoFit/>
          </a:bodyPr>
          <a:lstStyle/>
          <a:p>
            <a:r>
              <a:rPr sz="1100">
                <a:solidFill>
                  <a:srgbClr val="5F6E78"/>
                </a:solidFill>
              </a:rPr>
              <a:t>OVERLAP</a:t>
            </a:r>
          </a:p>
          <a:p>
            <a:r>
              <a:rPr sz="2400" b="1">
                <a:solidFill>
                  <a:srgbClr val="142237"/>
                </a:solidFill>
              </a:rPr>
              <a:t>None in clean split</a:t>
            </a:r>
          </a:p>
          <a:p>
            <a:r>
              <a:rPr sz="900">
                <a:solidFill>
                  <a:srgbClr val="5F6E78"/>
                </a:solidFill>
              </a:rPr>
              <a:t>Group sets are disjoint</a:t>
            </a:r>
          </a:p>
        </p:txBody>
      </p:sp>
      <p:sp>
        <p:nvSpPr>
          <p:cNvPr id="13" name="TextBox 12"/>
          <p:cNvSpPr txBox="1"/>
          <p:nvPr/>
        </p:nvSpPr>
        <p:spPr>
          <a:xfrm>
            <a:off x="822960" y="3246120"/>
            <a:ext cx="10515600" cy="4480560"/>
          </a:xfrm>
          <a:prstGeom prst="rect">
            <a:avLst/>
          </a:prstGeom>
          <a:noFill/>
        </p:spPr>
        <p:txBody>
          <a:bodyPr wrap="square">
            <a:spAutoFit/>
          </a:bodyPr>
          <a:lstStyle/>
          <a:p>
            <a:pPr>
              <a:spcAft>
                <a:spcPts val="1000"/>
              </a:spcAft>
              <a:defRPr sz="1600" b="0">
                <a:solidFill>
                  <a:srgbClr val="1E2830"/>
                </a:solidFill>
              </a:defRPr>
            </a:pPr>
            <a:r>
              <a:t>Legacy validation allows the same Age/group to appear in training and validation. It is therefore an in-dataset / within-group evaluation.</a:t>
            </a:r>
          </a:p>
          <a:p>
            <a:pPr>
              <a:spcAft>
                <a:spcPts val="1000"/>
              </a:spcAft>
              <a:defRPr sz="1600" b="0">
                <a:solidFill>
                  <a:srgbClr val="1E2830"/>
                </a:solidFill>
              </a:defRPr>
            </a:pPr>
            <a:r>
              <a:t>The participant-level design asks a harder question: can the model work on groups not seen during training while still having sufficient within-group history?</a:t>
            </a:r>
          </a:p>
          <a:p>
            <a:pPr>
              <a:spcAft>
                <a:spcPts val="1000"/>
              </a:spcAft>
              <a:defRPr sz="1600" b="0">
                <a:solidFill>
                  <a:srgbClr val="1E2830"/>
                </a:solidFill>
              </a:defRPr>
            </a:pPr>
            <a:r>
              <a:t>The latter is the more relevant reliability check for generalization.</a:t>
            </a:r>
          </a:p>
        </p:txBody>
      </p:sp>
      <p:sp>
        <p:nvSpPr>
          <p:cNvPr id="14" name="Rectangle 13"/>
          <p:cNvSpPr/>
          <p:nvPr/>
        </p:nvSpPr>
        <p:spPr>
          <a:xfrm>
            <a:off x="594360" y="6510528"/>
            <a:ext cx="10972800" cy="18288"/>
          </a:xfrm>
          <a:prstGeom prst="rect">
            <a:avLst/>
          </a:prstGeom>
          <a:solidFill>
            <a:srgbClr val="DC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 y="6556248"/>
            <a:ext cx="10515600" cy="182880"/>
          </a:xfrm>
          <a:prstGeom prst="rect">
            <a:avLst/>
          </a:prstGeom>
          <a:noFill/>
        </p:spPr>
        <p:txBody>
          <a:bodyPr wrap="none">
            <a:spAutoFit/>
          </a:bodyPr>
          <a:lstStyle/>
          <a:p>
            <a:r>
              <a:rPr sz="800">
                <a:solidFill>
                  <a:srgbClr val="5F6E78"/>
                </a:solidFill>
              </a:rPr>
              <a:t>BGL Wearable Estimation • Engineering Review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640080"/>
          </a:xfrm>
          <a:prstGeom prst="rect">
            <a:avLst/>
          </a:prstGeom>
          <a:noFill/>
        </p:spPr>
        <p:txBody>
          <a:bodyPr wrap="none">
            <a:spAutoFit/>
          </a:bodyPr>
          <a:lstStyle/>
          <a:p>
            <a:r>
              <a:rPr sz="2700" b="1">
                <a:solidFill>
                  <a:srgbClr val="142237"/>
                </a:solidFill>
              </a:rPr>
              <a:t>Model Architecture</a:t>
            </a:r>
          </a:p>
        </p:txBody>
      </p:sp>
      <p:sp>
        <p:nvSpPr>
          <p:cNvPr id="4" name="TextBox 3"/>
          <p:cNvSpPr txBox="1"/>
          <p:nvPr/>
        </p:nvSpPr>
        <p:spPr>
          <a:xfrm>
            <a:off x="621792" y="960120"/>
            <a:ext cx="10789920" cy="411480"/>
          </a:xfrm>
          <a:prstGeom prst="rect">
            <a:avLst/>
          </a:prstGeom>
          <a:noFill/>
        </p:spPr>
        <p:txBody>
          <a:bodyPr wrap="none">
            <a:spAutoFit/>
          </a:bodyPr>
          <a:lstStyle/>
          <a:p>
            <a:r>
              <a:rPr sz="1200">
                <a:solidFill>
                  <a:srgbClr val="5F6E78"/>
                </a:solidFill>
              </a:rPr>
              <a:t>Primary model vs analyzed alternative</a:t>
            </a:r>
          </a:p>
        </p:txBody>
      </p:sp>
      <p:sp>
        <p:nvSpPr>
          <p:cNvPr id="5" name="Rounded Rectangle 4"/>
          <p:cNvSpPr/>
          <p:nvPr/>
        </p:nvSpPr>
        <p:spPr>
          <a:xfrm>
            <a:off x="822960" y="1828800"/>
            <a:ext cx="2011680" cy="822960"/>
          </a:xfrm>
          <a:prstGeom prst="roundRect">
            <a:avLst/>
          </a:prstGeom>
          <a:solidFill>
            <a:srgbClr val="F2F6F8"/>
          </a:solidFill>
          <a:ln>
            <a:solidFill>
              <a:srgbClr val="1E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42237"/>
                </a:solidFill>
              </a:rPr>
              <a:t>10 rolling</a:t>
            </a:r>
            <a:br/>
            <a:r>
              <a:t>features</a:t>
            </a:r>
          </a:p>
        </p:txBody>
      </p:sp>
      <p:cxnSp>
        <p:nvCxnSpPr>
          <p:cNvPr id="6" name="Connector 5"/>
          <p:cNvCxnSpPr/>
          <p:nvPr/>
        </p:nvCxnSpPr>
        <p:spPr>
          <a:xfrm>
            <a:off x="2834640" y="2240280"/>
            <a:ext cx="914399" cy="0"/>
          </a:xfrm>
          <a:prstGeom prst="line">
            <a:avLst/>
          </a:prstGeom>
          <a:ln w="27940">
            <a:solidFill>
              <a:srgbClr val="1E828C"/>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749039" y="1828800"/>
            <a:ext cx="2286000" cy="822960"/>
          </a:xfrm>
          <a:prstGeom prst="roundRect">
            <a:avLst/>
          </a:prstGeom>
          <a:solidFill>
            <a:srgbClr val="F2F6F8"/>
          </a:solidFill>
          <a:ln>
            <a:solidFill>
              <a:srgbClr val="1E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42237"/>
                </a:solidFill>
              </a:rPr>
              <a:t>CatBoost</a:t>
            </a:r>
            <a:br/>
            <a:r>
              <a:t>Regressor</a:t>
            </a:r>
          </a:p>
        </p:txBody>
      </p:sp>
      <p:cxnSp>
        <p:nvCxnSpPr>
          <p:cNvPr id="8" name="Connector 7"/>
          <p:cNvCxnSpPr/>
          <p:nvPr/>
        </p:nvCxnSpPr>
        <p:spPr>
          <a:xfrm>
            <a:off x="6035040" y="2240280"/>
            <a:ext cx="914400" cy="0"/>
          </a:xfrm>
          <a:prstGeom prst="line">
            <a:avLst/>
          </a:prstGeom>
          <a:ln w="27940">
            <a:solidFill>
              <a:srgbClr val="1E828C"/>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949440" y="1828800"/>
            <a:ext cx="1554480" cy="822960"/>
          </a:xfrm>
          <a:prstGeom prst="roundRect">
            <a:avLst/>
          </a:prstGeom>
          <a:solidFill>
            <a:srgbClr val="F2F6F8"/>
          </a:solidFill>
          <a:ln>
            <a:solidFill>
              <a:srgbClr val="1E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42237"/>
                </a:solidFill>
              </a:rPr>
              <a:t>BGL</a:t>
            </a:r>
          </a:p>
        </p:txBody>
      </p:sp>
      <p:sp>
        <p:nvSpPr>
          <p:cNvPr id="10" name="Rounded Rectangle 9"/>
          <p:cNvSpPr/>
          <p:nvPr/>
        </p:nvSpPr>
        <p:spPr>
          <a:xfrm>
            <a:off x="3749039" y="3840480"/>
            <a:ext cx="2286000" cy="731520"/>
          </a:xfrm>
          <a:prstGeom prst="roundRect">
            <a:avLst/>
          </a:prstGeom>
          <a:solidFill>
            <a:srgbClr val="F6F0E1"/>
          </a:solidFill>
          <a:ln>
            <a:solidFill>
              <a:srgbClr val="1E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42237"/>
                </a:solidFill>
              </a:rPr>
              <a:t>Regime classifier</a:t>
            </a:r>
          </a:p>
        </p:txBody>
      </p:sp>
      <p:sp>
        <p:nvSpPr>
          <p:cNvPr id="11" name="Rounded Rectangle 10"/>
          <p:cNvSpPr/>
          <p:nvPr/>
        </p:nvSpPr>
        <p:spPr>
          <a:xfrm>
            <a:off x="6583680" y="3383280"/>
            <a:ext cx="2103120" cy="731520"/>
          </a:xfrm>
          <a:prstGeom prst="roundRect">
            <a:avLst/>
          </a:prstGeom>
          <a:solidFill>
            <a:srgbClr val="F0F6F2"/>
          </a:solidFill>
          <a:ln>
            <a:solidFill>
              <a:srgbClr val="1E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42237"/>
                </a:solidFill>
              </a:rPr>
              <a:t>Normal regressor</a:t>
            </a:r>
          </a:p>
        </p:txBody>
      </p:sp>
      <p:sp>
        <p:nvSpPr>
          <p:cNvPr id="12" name="Rounded Rectangle 11"/>
          <p:cNvSpPr/>
          <p:nvPr/>
        </p:nvSpPr>
        <p:spPr>
          <a:xfrm>
            <a:off x="6583680" y="4297680"/>
            <a:ext cx="2103120" cy="731520"/>
          </a:xfrm>
          <a:prstGeom prst="roundRect">
            <a:avLst/>
          </a:prstGeom>
          <a:solidFill>
            <a:srgbClr val="F6F0F0"/>
          </a:solidFill>
          <a:ln>
            <a:solidFill>
              <a:srgbClr val="1E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42237"/>
                </a:solidFill>
              </a:rPr>
              <a:t>High-BGL regressor</a:t>
            </a:r>
          </a:p>
        </p:txBody>
      </p:sp>
      <p:sp>
        <p:nvSpPr>
          <p:cNvPr id="13" name="TextBox 12"/>
          <p:cNvSpPr txBox="1"/>
          <p:nvPr/>
        </p:nvSpPr>
        <p:spPr>
          <a:xfrm>
            <a:off x="822960" y="5257800"/>
            <a:ext cx="10515600" cy="4480560"/>
          </a:xfrm>
          <a:prstGeom prst="rect">
            <a:avLst/>
          </a:prstGeom>
          <a:noFill/>
        </p:spPr>
        <p:txBody>
          <a:bodyPr wrap="square">
            <a:spAutoFit/>
          </a:bodyPr>
          <a:lstStyle/>
          <a:p>
            <a:pPr>
              <a:spcAft>
                <a:spcPts val="1000"/>
              </a:spcAft>
              <a:defRPr sz="1300" b="0">
                <a:solidFill>
                  <a:srgbClr val="1E2830"/>
                </a:solidFill>
              </a:defRPr>
            </a:pPr>
            <a:r>
              <a:t>Primary: single CatBoost with 250-row mean/std features.</a:t>
            </a:r>
          </a:p>
          <a:p>
            <a:pPr>
              <a:spcAft>
                <a:spcPts val="1000"/>
              </a:spcAft>
              <a:defRPr sz="1300" b="0">
                <a:solidFill>
                  <a:srgbClr val="1E2830"/>
                </a:solidFill>
              </a:defRPr>
            </a:pPr>
            <a:r>
              <a:t>Alternative: classifier + separate normal/high-BGL regressors, also tested with probability-weighted blending.</a:t>
            </a:r>
          </a:p>
          <a:p>
            <a:pPr>
              <a:spcAft>
                <a:spcPts val="1000"/>
              </a:spcAft>
              <a:defRPr sz="1300" b="0">
                <a:solidFill>
                  <a:srgbClr val="1E2830"/>
                </a:solidFill>
              </a:defRPr>
            </a:pPr>
            <a:r>
              <a:t>The two-stage model was retained as analysis because its overall RMSE/R² were worse than the single model.</a:t>
            </a:r>
          </a:p>
        </p:txBody>
      </p:sp>
      <p:sp>
        <p:nvSpPr>
          <p:cNvPr id="14" name="Rectangle 13"/>
          <p:cNvSpPr/>
          <p:nvPr/>
        </p:nvSpPr>
        <p:spPr>
          <a:xfrm>
            <a:off x="594360" y="6510528"/>
            <a:ext cx="10972800" cy="18288"/>
          </a:xfrm>
          <a:prstGeom prst="rect">
            <a:avLst/>
          </a:prstGeom>
          <a:solidFill>
            <a:srgbClr val="DC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 y="6556248"/>
            <a:ext cx="10515600" cy="182880"/>
          </a:xfrm>
          <a:prstGeom prst="rect">
            <a:avLst/>
          </a:prstGeom>
          <a:noFill/>
        </p:spPr>
        <p:txBody>
          <a:bodyPr wrap="none">
            <a:spAutoFit/>
          </a:bodyPr>
          <a:lstStyle/>
          <a:p>
            <a:r>
              <a:rPr sz="800">
                <a:solidFill>
                  <a:srgbClr val="5F6E78"/>
                </a:solidFill>
              </a:rPr>
              <a:t>BGL Wearable Estimation • Engineering Review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640080"/>
          </a:xfrm>
          <a:prstGeom prst="rect">
            <a:avLst/>
          </a:prstGeom>
          <a:noFill/>
        </p:spPr>
        <p:txBody>
          <a:bodyPr wrap="none">
            <a:spAutoFit/>
          </a:bodyPr>
          <a:lstStyle/>
          <a:p>
            <a:r>
              <a:rPr sz="2700" b="1">
                <a:solidFill>
                  <a:srgbClr val="142237"/>
                </a:solidFill>
              </a:rPr>
              <a:t>Two-Stage Logic</a:t>
            </a:r>
          </a:p>
        </p:txBody>
      </p:sp>
      <p:sp>
        <p:nvSpPr>
          <p:cNvPr id="4" name="TextBox 3"/>
          <p:cNvSpPr txBox="1"/>
          <p:nvPr/>
        </p:nvSpPr>
        <p:spPr>
          <a:xfrm>
            <a:off x="621792" y="960120"/>
            <a:ext cx="10789920" cy="411480"/>
          </a:xfrm>
          <a:prstGeom prst="rect">
            <a:avLst/>
          </a:prstGeom>
          <a:noFill/>
        </p:spPr>
        <p:txBody>
          <a:bodyPr wrap="none">
            <a:spAutoFit/>
          </a:bodyPr>
          <a:lstStyle/>
          <a:p>
            <a:r>
              <a:rPr sz="1200">
                <a:solidFill>
                  <a:srgbClr val="5F6E78"/>
                </a:solidFill>
              </a:rPr>
              <a:t>What we learned from the regime experiment</a:t>
            </a:r>
          </a:p>
        </p:txBody>
      </p:sp>
      <p:sp>
        <p:nvSpPr>
          <p:cNvPr id="5" name="Rounded Rectangle 4"/>
          <p:cNvSpPr/>
          <p:nvPr/>
        </p:nvSpPr>
        <p:spPr>
          <a:xfrm>
            <a:off x="731520" y="1417320"/>
            <a:ext cx="3383280" cy="1371600"/>
          </a:xfrm>
          <a:prstGeom prst="roundRect">
            <a:avLst/>
          </a:prstGeom>
          <a:solidFill>
            <a:srgbClr val="F2F6F8"/>
          </a:solidFill>
          <a:ln>
            <a:solidFill>
              <a:srgbClr val="D7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417320"/>
            <a:ext cx="73152" cy="1371600"/>
          </a:xfrm>
          <a:prstGeom prst="rect">
            <a:avLst/>
          </a:prstGeom>
          <a:solidFill>
            <a:srgbClr val="2D8C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1581912"/>
            <a:ext cx="3063240" cy="1143000"/>
          </a:xfrm>
          <a:prstGeom prst="rect">
            <a:avLst/>
          </a:prstGeom>
          <a:noFill/>
        </p:spPr>
        <p:txBody>
          <a:bodyPr wrap="none">
            <a:spAutoFit/>
          </a:bodyPr>
          <a:lstStyle/>
          <a:p>
            <a:r>
              <a:rPr sz="1100">
                <a:solidFill>
                  <a:srgbClr val="5F6E78"/>
                </a:solidFill>
              </a:rPr>
              <a:t>HIGH-BGL REGRESSOR</a:t>
            </a:r>
          </a:p>
          <a:p>
            <a:r>
              <a:rPr sz="2400" b="1">
                <a:solidFill>
                  <a:srgbClr val="142237"/>
                </a:solidFill>
              </a:rPr>
              <a:t>RMSE ≈ 0.31</a:t>
            </a:r>
          </a:p>
          <a:p>
            <a:r>
              <a:rPr sz="900">
                <a:solidFill>
                  <a:srgbClr val="5F6E78"/>
                </a:solidFill>
              </a:rPr>
              <a:t>High-BGL validation subset</a:t>
            </a:r>
          </a:p>
        </p:txBody>
      </p:sp>
      <p:sp>
        <p:nvSpPr>
          <p:cNvPr id="8" name="Rounded Rectangle 7"/>
          <p:cNvSpPr/>
          <p:nvPr/>
        </p:nvSpPr>
        <p:spPr>
          <a:xfrm>
            <a:off x="4389120" y="1417320"/>
            <a:ext cx="3383280" cy="1371600"/>
          </a:xfrm>
          <a:prstGeom prst="roundRect">
            <a:avLst/>
          </a:prstGeom>
          <a:solidFill>
            <a:srgbClr val="F2F6F8"/>
          </a:solidFill>
          <a:ln>
            <a:solidFill>
              <a:srgbClr val="D7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89120" y="1417320"/>
            <a:ext cx="73152" cy="1371600"/>
          </a:xfrm>
          <a:prstGeom prst="rect">
            <a:avLst/>
          </a:prstGeom>
          <a:solidFill>
            <a:srgbClr val="CD91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90288" y="1581912"/>
            <a:ext cx="3063240" cy="1143000"/>
          </a:xfrm>
          <a:prstGeom prst="rect">
            <a:avLst/>
          </a:prstGeom>
          <a:noFill/>
        </p:spPr>
        <p:txBody>
          <a:bodyPr wrap="none">
            <a:spAutoFit/>
          </a:bodyPr>
          <a:lstStyle/>
          <a:p>
            <a:r>
              <a:rPr sz="1100">
                <a:solidFill>
                  <a:srgbClr val="5F6E78"/>
                </a:solidFill>
              </a:rPr>
              <a:t>HARD SWITCH</a:t>
            </a:r>
          </a:p>
          <a:p>
            <a:r>
              <a:rPr sz="2400" b="1">
                <a:solidFill>
                  <a:srgbClr val="142237"/>
                </a:solidFill>
              </a:rPr>
              <a:t>RMSE ≈ 9.48</a:t>
            </a:r>
          </a:p>
          <a:p>
            <a:r>
              <a:rPr sz="900">
                <a:solidFill>
                  <a:srgbClr val="5F6E78"/>
                </a:solidFill>
              </a:rPr>
              <a:t>Overall validation</a:t>
            </a:r>
          </a:p>
        </p:txBody>
      </p:sp>
      <p:sp>
        <p:nvSpPr>
          <p:cNvPr id="11" name="Rounded Rectangle 10"/>
          <p:cNvSpPr/>
          <p:nvPr/>
        </p:nvSpPr>
        <p:spPr>
          <a:xfrm>
            <a:off x="8046720" y="1417320"/>
            <a:ext cx="3383280" cy="1371600"/>
          </a:xfrm>
          <a:prstGeom prst="roundRect">
            <a:avLst/>
          </a:prstGeom>
          <a:solidFill>
            <a:srgbClr val="F2F6F8"/>
          </a:solidFill>
          <a:ln>
            <a:solidFill>
              <a:srgbClr val="D7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046720" y="1417320"/>
            <a:ext cx="73152" cy="1371600"/>
          </a:xfrm>
          <a:prstGeom prst="rect">
            <a:avLst/>
          </a:prstGeom>
          <a:solidFill>
            <a:srgbClr val="1E82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47888" y="1581912"/>
            <a:ext cx="3063240" cy="1143000"/>
          </a:xfrm>
          <a:prstGeom prst="rect">
            <a:avLst/>
          </a:prstGeom>
          <a:noFill/>
        </p:spPr>
        <p:txBody>
          <a:bodyPr wrap="none">
            <a:spAutoFit/>
          </a:bodyPr>
          <a:lstStyle/>
          <a:p>
            <a:r>
              <a:rPr sz="1100">
                <a:solidFill>
                  <a:srgbClr val="5F6E78"/>
                </a:solidFill>
              </a:rPr>
              <a:t>PROBABILITY BLEND</a:t>
            </a:r>
          </a:p>
          <a:p>
            <a:r>
              <a:rPr sz="2400" b="1">
                <a:solidFill>
                  <a:srgbClr val="142237"/>
                </a:solidFill>
              </a:rPr>
              <a:t>RMSE ≈ 9.25</a:t>
            </a:r>
          </a:p>
          <a:p>
            <a:r>
              <a:rPr sz="900">
                <a:solidFill>
                  <a:srgbClr val="5F6E78"/>
                </a:solidFill>
              </a:rPr>
              <a:t>Still behind single model</a:t>
            </a:r>
          </a:p>
        </p:txBody>
      </p:sp>
      <p:sp>
        <p:nvSpPr>
          <p:cNvPr id="14" name="TextBox 13"/>
          <p:cNvSpPr txBox="1"/>
          <p:nvPr/>
        </p:nvSpPr>
        <p:spPr>
          <a:xfrm>
            <a:off x="822960" y="3246120"/>
            <a:ext cx="10515600" cy="4480560"/>
          </a:xfrm>
          <a:prstGeom prst="rect">
            <a:avLst/>
          </a:prstGeom>
          <a:noFill/>
        </p:spPr>
        <p:txBody>
          <a:bodyPr wrap="square">
            <a:spAutoFit/>
          </a:bodyPr>
          <a:lstStyle/>
          <a:p>
            <a:pPr>
              <a:spcAft>
                <a:spcPts val="1000"/>
              </a:spcAft>
              <a:defRPr sz="1600" b="0">
                <a:solidFill>
                  <a:srgbClr val="1E2830"/>
                </a:solidFill>
              </a:defRPr>
            </a:pPr>
            <a:r>
              <a:t>The high-BGL subset is narrow (roughly 242–250), so a specialized regressor can perform extremely well there.</a:t>
            </a:r>
          </a:p>
          <a:p>
            <a:pPr>
              <a:spcAft>
                <a:spcPts val="1000"/>
              </a:spcAft>
              <a:defRPr sz="1600" b="0">
                <a:solidFill>
                  <a:srgbClr val="1E2830"/>
                </a:solidFill>
              </a:defRPr>
            </a:pPr>
            <a:r>
              <a:t>The single model handles boundary cases more gracefully because it predicts continuously.</a:t>
            </a:r>
          </a:p>
          <a:p>
            <a:pPr>
              <a:spcAft>
                <a:spcPts val="1000"/>
              </a:spcAft>
              <a:defRPr sz="1600" b="0">
                <a:solidFill>
                  <a:srgbClr val="1E2830"/>
                </a:solidFill>
              </a:defRPr>
            </a:pPr>
            <a:r>
              <a:t>Conclusion: keep the single 250-row model as the primary model; retain regime modeling as an analysis/future direction.</a:t>
            </a:r>
          </a:p>
        </p:txBody>
      </p:sp>
      <p:sp>
        <p:nvSpPr>
          <p:cNvPr id="15" name="Rectangle 14"/>
          <p:cNvSpPr/>
          <p:nvPr/>
        </p:nvSpPr>
        <p:spPr>
          <a:xfrm>
            <a:off x="594360" y="6510528"/>
            <a:ext cx="10972800" cy="18288"/>
          </a:xfrm>
          <a:prstGeom prst="rect">
            <a:avLst/>
          </a:prstGeom>
          <a:solidFill>
            <a:srgbClr val="DC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 y="6556248"/>
            <a:ext cx="10515600" cy="182880"/>
          </a:xfrm>
          <a:prstGeom prst="rect">
            <a:avLst/>
          </a:prstGeom>
          <a:noFill/>
        </p:spPr>
        <p:txBody>
          <a:bodyPr wrap="none">
            <a:spAutoFit/>
          </a:bodyPr>
          <a:lstStyle/>
          <a:p>
            <a:r>
              <a:rPr sz="800">
                <a:solidFill>
                  <a:srgbClr val="5F6E78"/>
                </a:solidFill>
              </a:rPr>
              <a:t>BGL Wearable Estimation • Engineering Review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640080"/>
          </a:xfrm>
          <a:prstGeom prst="rect">
            <a:avLst/>
          </a:prstGeom>
          <a:noFill/>
        </p:spPr>
        <p:txBody>
          <a:bodyPr wrap="none">
            <a:spAutoFit/>
          </a:bodyPr>
          <a:lstStyle/>
          <a:p>
            <a:r>
              <a:rPr sz="2700" b="1">
                <a:solidFill>
                  <a:srgbClr val="142237"/>
                </a:solidFill>
              </a:rPr>
              <a:t>Existing vs New Participant</a:t>
            </a:r>
          </a:p>
        </p:txBody>
      </p:sp>
      <p:sp>
        <p:nvSpPr>
          <p:cNvPr id="4" name="Rounded Rectangle 3"/>
          <p:cNvSpPr/>
          <p:nvPr/>
        </p:nvSpPr>
        <p:spPr>
          <a:xfrm>
            <a:off x="822960" y="1508760"/>
            <a:ext cx="2286000" cy="685800"/>
          </a:xfrm>
          <a:prstGeom prst="roundRect">
            <a:avLst/>
          </a:prstGeom>
          <a:solidFill>
            <a:srgbClr val="E8F4F5"/>
          </a:solidFill>
          <a:ln>
            <a:solidFill>
              <a:srgbClr val="1E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42237"/>
                </a:solidFill>
              </a:rPr>
              <a:t>Existing participant</a:t>
            </a:r>
          </a:p>
        </p:txBody>
      </p:sp>
      <p:cxnSp>
        <p:nvCxnSpPr>
          <p:cNvPr id="5" name="Connector 4"/>
          <p:cNvCxnSpPr/>
          <p:nvPr/>
        </p:nvCxnSpPr>
        <p:spPr>
          <a:xfrm>
            <a:off x="3108960" y="1847088"/>
            <a:ext cx="640079" cy="0"/>
          </a:xfrm>
          <a:prstGeom prst="line">
            <a:avLst/>
          </a:prstGeom>
          <a:ln w="27940">
            <a:solidFill>
              <a:srgbClr val="1E828C"/>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3749039" y="1508760"/>
            <a:ext cx="2011680" cy="685800"/>
          </a:xfrm>
          <a:prstGeom prst="roundRect">
            <a:avLst/>
          </a:prstGeom>
          <a:solidFill>
            <a:srgbClr val="F2F6F8"/>
          </a:solidFill>
          <a:ln>
            <a:solidFill>
              <a:srgbClr val="1E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42237"/>
                </a:solidFill>
              </a:rPr>
              <a:t>Enough history</a:t>
            </a:r>
          </a:p>
        </p:txBody>
      </p:sp>
      <p:cxnSp>
        <p:nvCxnSpPr>
          <p:cNvPr id="7" name="Connector 6"/>
          <p:cNvCxnSpPr/>
          <p:nvPr/>
        </p:nvCxnSpPr>
        <p:spPr>
          <a:xfrm>
            <a:off x="5760720" y="1847088"/>
            <a:ext cx="640080" cy="0"/>
          </a:xfrm>
          <a:prstGeom prst="line">
            <a:avLst/>
          </a:prstGeom>
          <a:ln w="27940">
            <a:solidFill>
              <a:srgbClr val="1E828C"/>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400800" y="1508760"/>
            <a:ext cx="2011680" cy="685800"/>
          </a:xfrm>
          <a:prstGeom prst="roundRect">
            <a:avLst/>
          </a:prstGeom>
          <a:solidFill>
            <a:srgbClr val="F2F6F8"/>
          </a:solidFill>
          <a:ln>
            <a:solidFill>
              <a:srgbClr val="1E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42237"/>
                </a:solidFill>
              </a:rPr>
              <a:t>250-row features</a:t>
            </a:r>
          </a:p>
        </p:txBody>
      </p:sp>
      <p:cxnSp>
        <p:nvCxnSpPr>
          <p:cNvPr id="9" name="Connector 8"/>
          <p:cNvCxnSpPr/>
          <p:nvPr/>
        </p:nvCxnSpPr>
        <p:spPr>
          <a:xfrm>
            <a:off x="8412480" y="1847088"/>
            <a:ext cx="548640" cy="0"/>
          </a:xfrm>
          <a:prstGeom prst="line">
            <a:avLst/>
          </a:prstGeom>
          <a:ln w="27940">
            <a:solidFill>
              <a:srgbClr val="1E828C"/>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8961120" y="1508760"/>
            <a:ext cx="2011680" cy="685800"/>
          </a:xfrm>
          <a:prstGeom prst="roundRect">
            <a:avLst/>
          </a:prstGeom>
          <a:solidFill>
            <a:srgbClr val="E8F4F5"/>
          </a:solidFill>
          <a:ln>
            <a:solidFill>
              <a:srgbClr val="1E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42237"/>
                </a:solidFill>
              </a:rPr>
              <a:t>Prediction</a:t>
            </a:r>
          </a:p>
        </p:txBody>
      </p:sp>
      <p:sp>
        <p:nvSpPr>
          <p:cNvPr id="11" name="Rounded Rectangle 10"/>
          <p:cNvSpPr/>
          <p:nvPr/>
        </p:nvSpPr>
        <p:spPr>
          <a:xfrm>
            <a:off x="822960" y="3657600"/>
            <a:ext cx="2286000" cy="685800"/>
          </a:xfrm>
          <a:prstGeom prst="roundRect">
            <a:avLst/>
          </a:prstGeom>
          <a:solidFill>
            <a:srgbClr val="F6F0E1"/>
          </a:solidFill>
          <a:ln>
            <a:solidFill>
              <a:srgbClr val="1E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42237"/>
                </a:solidFill>
              </a:rPr>
              <a:t>New participant</a:t>
            </a:r>
          </a:p>
        </p:txBody>
      </p:sp>
      <p:cxnSp>
        <p:nvCxnSpPr>
          <p:cNvPr id="12" name="Connector 11"/>
          <p:cNvCxnSpPr/>
          <p:nvPr/>
        </p:nvCxnSpPr>
        <p:spPr>
          <a:xfrm>
            <a:off x="3108960" y="3995928"/>
            <a:ext cx="640079" cy="0"/>
          </a:xfrm>
          <a:prstGeom prst="line">
            <a:avLst/>
          </a:prstGeom>
          <a:ln w="27940">
            <a:solidFill>
              <a:srgbClr val="1E828C"/>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749039" y="3657600"/>
            <a:ext cx="2011680" cy="685800"/>
          </a:xfrm>
          <a:prstGeom prst="roundRect">
            <a:avLst/>
          </a:prstGeom>
          <a:solidFill>
            <a:srgbClr val="F2F6F8"/>
          </a:solidFill>
          <a:ln>
            <a:solidFill>
              <a:srgbClr val="1E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42237"/>
                </a:solidFill>
              </a:rPr>
              <a:t>Collect history</a:t>
            </a:r>
          </a:p>
        </p:txBody>
      </p:sp>
      <p:cxnSp>
        <p:nvCxnSpPr>
          <p:cNvPr id="14" name="Connector 13"/>
          <p:cNvCxnSpPr/>
          <p:nvPr/>
        </p:nvCxnSpPr>
        <p:spPr>
          <a:xfrm>
            <a:off x="5760720" y="3995928"/>
            <a:ext cx="640080" cy="0"/>
          </a:xfrm>
          <a:prstGeom prst="line">
            <a:avLst/>
          </a:prstGeom>
          <a:ln w="27940">
            <a:solidFill>
              <a:srgbClr val="1E828C"/>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400800" y="3657600"/>
            <a:ext cx="2011680" cy="685800"/>
          </a:xfrm>
          <a:prstGeom prst="roundRect">
            <a:avLst/>
          </a:prstGeom>
          <a:solidFill>
            <a:srgbClr val="F2F6F8"/>
          </a:solidFill>
          <a:ln>
            <a:solidFill>
              <a:srgbClr val="1E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42237"/>
                </a:solidFill>
              </a:rPr>
              <a:t>Wait for 250</a:t>
            </a:r>
          </a:p>
        </p:txBody>
      </p:sp>
      <p:cxnSp>
        <p:nvCxnSpPr>
          <p:cNvPr id="16" name="Connector 15"/>
          <p:cNvCxnSpPr/>
          <p:nvPr/>
        </p:nvCxnSpPr>
        <p:spPr>
          <a:xfrm>
            <a:off x="8412480" y="3995928"/>
            <a:ext cx="548640" cy="0"/>
          </a:xfrm>
          <a:prstGeom prst="line">
            <a:avLst/>
          </a:prstGeom>
          <a:ln w="27940">
            <a:solidFill>
              <a:srgbClr val="1E828C"/>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8961120" y="3657600"/>
            <a:ext cx="2011680" cy="685800"/>
          </a:xfrm>
          <a:prstGeom prst="roundRect">
            <a:avLst/>
          </a:prstGeom>
          <a:solidFill>
            <a:srgbClr val="F2F6F8"/>
          </a:solidFill>
          <a:ln>
            <a:solidFill>
              <a:srgbClr val="1E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42237"/>
                </a:solidFill>
              </a:rPr>
              <a:t>Prediction</a:t>
            </a:r>
          </a:p>
        </p:txBody>
      </p:sp>
      <p:sp>
        <p:nvSpPr>
          <p:cNvPr id="18" name="TextBox 17"/>
          <p:cNvSpPr txBox="1"/>
          <p:nvPr/>
        </p:nvSpPr>
        <p:spPr>
          <a:xfrm>
            <a:off x="822960" y="4983480"/>
            <a:ext cx="10515600" cy="4480560"/>
          </a:xfrm>
          <a:prstGeom prst="rect">
            <a:avLst/>
          </a:prstGeom>
          <a:noFill/>
        </p:spPr>
        <p:txBody>
          <a:bodyPr wrap="square">
            <a:spAutoFit/>
          </a:bodyPr>
          <a:lstStyle/>
          <a:p>
            <a:pPr>
              <a:spcAft>
                <a:spcPts val="1000"/>
              </a:spcAft>
              <a:defRPr sz="1400" b="0">
                <a:solidFill>
                  <a:srgbClr val="1E2830"/>
                </a:solidFill>
              </a:defRPr>
            </a:pPr>
            <a:r>
              <a:t>The current implementation does not establish equal performance for a cold-start participant.</a:t>
            </a:r>
          </a:p>
          <a:p>
            <a:pPr>
              <a:spcAft>
                <a:spcPts val="1000"/>
              </a:spcAft>
              <a:defRPr sz="1400" b="0">
                <a:solidFill>
                  <a:srgbClr val="1E2830"/>
                </a:solidFill>
              </a:defRPr>
            </a:pPr>
            <a:r>
              <a:t>250 observations is a model-history requirement in this implementation, not a clinical recommendation.</a:t>
            </a:r>
          </a:p>
        </p:txBody>
      </p:sp>
      <p:sp>
        <p:nvSpPr>
          <p:cNvPr id="19" name="Rectangle 18"/>
          <p:cNvSpPr/>
          <p:nvPr/>
        </p:nvSpPr>
        <p:spPr>
          <a:xfrm>
            <a:off x="594360" y="6510528"/>
            <a:ext cx="10972800" cy="18288"/>
          </a:xfrm>
          <a:prstGeom prst="rect">
            <a:avLst/>
          </a:prstGeom>
          <a:solidFill>
            <a:srgbClr val="DC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 y="6556248"/>
            <a:ext cx="10515600" cy="182880"/>
          </a:xfrm>
          <a:prstGeom prst="rect">
            <a:avLst/>
          </a:prstGeom>
          <a:noFill/>
        </p:spPr>
        <p:txBody>
          <a:bodyPr wrap="none">
            <a:spAutoFit/>
          </a:bodyPr>
          <a:lstStyle/>
          <a:p>
            <a:r>
              <a:rPr sz="800">
                <a:solidFill>
                  <a:srgbClr val="5F6E78"/>
                </a:solidFill>
              </a:rPr>
              <a:t>BGL Wearable Estimation • Engineering Review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640080"/>
          </a:xfrm>
          <a:prstGeom prst="rect">
            <a:avLst/>
          </a:prstGeom>
          <a:noFill/>
        </p:spPr>
        <p:txBody>
          <a:bodyPr wrap="none">
            <a:spAutoFit/>
          </a:bodyPr>
          <a:lstStyle/>
          <a:p>
            <a:r>
              <a:rPr sz="2700" b="1">
                <a:solidFill>
                  <a:srgbClr val="142237"/>
                </a:solidFill>
              </a:rPr>
              <a:t>Model Performance</a:t>
            </a:r>
          </a:p>
        </p:txBody>
      </p:sp>
      <p:sp>
        <p:nvSpPr>
          <p:cNvPr id="4" name="TextBox 3"/>
          <p:cNvSpPr txBox="1"/>
          <p:nvPr/>
        </p:nvSpPr>
        <p:spPr>
          <a:xfrm>
            <a:off x="621792" y="960120"/>
            <a:ext cx="10789920" cy="411480"/>
          </a:xfrm>
          <a:prstGeom prst="rect">
            <a:avLst/>
          </a:prstGeom>
          <a:noFill/>
        </p:spPr>
        <p:txBody>
          <a:bodyPr wrap="none">
            <a:spAutoFit/>
          </a:bodyPr>
          <a:lstStyle/>
          <a:p>
            <a:r>
              <a:rPr sz="1200">
                <a:solidFill>
                  <a:srgbClr val="5F6E78"/>
                </a:solidFill>
              </a:rPr>
              <a:t>Reported legacy validation results</a:t>
            </a:r>
          </a:p>
        </p:txBody>
      </p:sp>
      <p:sp>
        <p:nvSpPr>
          <p:cNvPr id="5" name="Rounded Rectangle 4"/>
          <p:cNvSpPr/>
          <p:nvPr/>
        </p:nvSpPr>
        <p:spPr>
          <a:xfrm>
            <a:off x="822960" y="1325880"/>
            <a:ext cx="3200400" cy="1280160"/>
          </a:xfrm>
          <a:prstGeom prst="roundRect">
            <a:avLst/>
          </a:prstGeom>
          <a:solidFill>
            <a:srgbClr val="F2F6F8"/>
          </a:solidFill>
          <a:ln>
            <a:solidFill>
              <a:srgbClr val="D7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1325880"/>
            <a:ext cx="73152" cy="1280160"/>
          </a:xfrm>
          <a:prstGeom prst="rect">
            <a:avLst/>
          </a:prstGeom>
          <a:solidFill>
            <a:srgbClr val="1E82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1490472"/>
            <a:ext cx="2880360" cy="1051560"/>
          </a:xfrm>
          <a:prstGeom prst="rect">
            <a:avLst/>
          </a:prstGeom>
          <a:noFill/>
        </p:spPr>
        <p:txBody>
          <a:bodyPr wrap="none">
            <a:spAutoFit/>
          </a:bodyPr>
          <a:lstStyle/>
          <a:p>
            <a:r>
              <a:rPr sz="1100">
                <a:solidFill>
                  <a:srgbClr val="5F6E78"/>
                </a:solidFill>
              </a:rPr>
              <a:t>RMSE</a:t>
            </a:r>
          </a:p>
          <a:p>
            <a:r>
              <a:rPr sz="2400" b="1">
                <a:solidFill>
                  <a:srgbClr val="142237"/>
                </a:solidFill>
              </a:rPr>
              <a:t>7.8812</a:t>
            </a:r>
          </a:p>
        </p:txBody>
      </p:sp>
      <p:sp>
        <p:nvSpPr>
          <p:cNvPr id="8" name="Rounded Rectangle 7"/>
          <p:cNvSpPr/>
          <p:nvPr/>
        </p:nvSpPr>
        <p:spPr>
          <a:xfrm>
            <a:off x="4389120" y="1325880"/>
            <a:ext cx="3200400" cy="1280160"/>
          </a:xfrm>
          <a:prstGeom prst="roundRect">
            <a:avLst/>
          </a:prstGeom>
          <a:solidFill>
            <a:srgbClr val="F2F6F8"/>
          </a:solidFill>
          <a:ln>
            <a:solidFill>
              <a:srgbClr val="D7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89120" y="1325880"/>
            <a:ext cx="73152" cy="1280160"/>
          </a:xfrm>
          <a:prstGeom prst="rect">
            <a:avLst/>
          </a:prstGeom>
          <a:solidFill>
            <a:srgbClr val="2D8C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90288" y="1490472"/>
            <a:ext cx="2880360" cy="1051560"/>
          </a:xfrm>
          <a:prstGeom prst="rect">
            <a:avLst/>
          </a:prstGeom>
          <a:noFill/>
        </p:spPr>
        <p:txBody>
          <a:bodyPr wrap="none">
            <a:spAutoFit/>
          </a:bodyPr>
          <a:lstStyle/>
          <a:p>
            <a:r>
              <a:rPr sz="1100">
                <a:solidFill>
                  <a:srgbClr val="5F6E78"/>
                </a:solidFill>
              </a:rPr>
              <a:t>MAE</a:t>
            </a:r>
          </a:p>
          <a:p>
            <a:r>
              <a:rPr sz="2400" b="1">
                <a:solidFill>
                  <a:srgbClr val="142237"/>
                </a:solidFill>
              </a:rPr>
              <a:t>3.1898</a:t>
            </a:r>
          </a:p>
        </p:txBody>
      </p:sp>
      <p:sp>
        <p:nvSpPr>
          <p:cNvPr id="11" name="Rounded Rectangle 10"/>
          <p:cNvSpPr/>
          <p:nvPr/>
        </p:nvSpPr>
        <p:spPr>
          <a:xfrm>
            <a:off x="7955279" y="1325880"/>
            <a:ext cx="3200400" cy="1280160"/>
          </a:xfrm>
          <a:prstGeom prst="roundRect">
            <a:avLst/>
          </a:prstGeom>
          <a:solidFill>
            <a:srgbClr val="F2F6F8"/>
          </a:solidFill>
          <a:ln>
            <a:solidFill>
              <a:srgbClr val="D7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955279" y="1325880"/>
            <a:ext cx="73152" cy="1280160"/>
          </a:xfrm>
          <a:prstGeom prst="rect">
            <a:avLst/>
          </a:prstGeom>
          <a:solidFill>
            <a:srgbClr val="CD91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56448" y="1490472"/>
            <a:ext cx="2880360" cy="1051560"/>
          </a:xfrm>
          <a:prstGeom prst="rect">
            <a:avLst/>
          </a:prstGeom>
          <a:noFill/>
        </p:spPr>
        <p:txBody>
          <a:bodyPr wrap="none">
            <a:spAutoFit/>
          </a:bodyPr>
          <a:lstStyle/>
          <a:p>
            <a:r>
              <a:rPr sz="1100">
                <a:solidFill>
                  <a:srgbClr val="5F6E78"/>
                </a:solidFill>
              </a:rPr>
              <a:t>R²</a:t>
            </a:r>
          </a:p>
          <a:p>
            <a:r>
              <a:rPr sz="2400" b="1">
                <a:solidFill>
                  <a:srgbClr val="142237"/>
                </a:solidFill>
              </a:rPr>
              <a:t>0.9683</a:t>
            </a:r>
          </a:p>
        </p:txBody>
      </p:sp>
      <p:graphicFrame>
        <p:nvGraphicFramePr>
          <p:cNvPr id="14" name="Table 13"/>
          <p:cNvGraphicFramePr>
            <a:graphicFrameLocks noGrp="1"/>
          </p:cNvGraphicFramePr>
          <p:nvPr/>
        </p:nvGraphicFramePr>
        <p:xfrm>
          <a:off x="1371600" y="3017520"/>
          <a:ext cx="9326880" cy="2468880"/>
        </p:xfrm>
        <a:graphic>
          <a:graphicData uri="http://schemas.openxmlformats.org/drawingml/2006/table">
            <a:tbl>
              <a:tblPr firstRow="1" bandRow="1">
                <a:tableStyleId>{5C22544A-7EE6-4342-B048-85BDC9FD1C3A}</a:tableStyleId>
              </a:tblPr>
              <a:tblGrid>
                <a:gridCol w="2331720"/>
                <a:gridCol w="2331720"/>
                <a:gridCol w="2331720"/>
                <a:gridCol w="2331720"/>
              </a:tblGrid>
              <a:tr h="411480">
                <a:tc>
                  <a:txBody>
                    <a:bodyPr/>
                    <a:lstStyle/>
                    <a:p>
                      <a:r>
                        <a:rPr sz="1200" b="1">
                          <a:solidFill>
                            <a:srgbClr val="FFFFFF"/>
                          </a:solidFill>
                        </a:rPr>
                        <a:t>History</a:t>
                      </a:r>
                    </a:p>
                  </a:txBody>
                  <a:tcPr>
                    <a:solidFill>
                      <a:srgbClr val="142237"/>
                    </a:solidFill>
                  </a:tcPr>
                </a:tc>
                <a:tc>
                  <a:txBody>
                    <a:bodyPr/>
                    <a:lstStyle/>
                    <a:p>
                      <a:r>
                        <a:rPr sz="1200" b="1">
                          <a:solidFill>
                            <a:srgbClr val="FFFFFF"/>
                          </a:solidFill>
                        </a:rPr>
                        <a:t>RMSE</a:t>
                      </a:r>
                    </a:p>
                  </a:txBody>
                  <a:tcPr>
                    <a:solidFill>
                      <a:srgbClr val="142237"/>
                    </a:solidFill>
                  </a:tcPr>
                </a:tc>
                <a:tc>
                  <a:txBody>
                    <a:bodyPr/>
                    <a:lstStyle/>
                    <a:p>
                      <a:r>
                        <a:rPr sz="1200" b="1">
                          <a:solidFill>
                            <a:srgbClr val="FFFFFF"/>
                          </a:solidFill>
                        </a:rPr>
                        <a:t>MAE</a:t>
                      </a:r>
                    </a:p>
                  </a:txBody>
                  <a:tcPr>
                    <a:solidFill>
                      <a:srgbClr val="142237"/>
                    </a:solidFill>
                  </a:tcPr>
                </a:tc>
                <a:tc>
                  <a:txBody>
                    <a:bodyPr/>
                    <a:lstStyle/>
                    <a:p>
                      <a:r>
                        <a:rPr sz="1200" b="1">
                          <a:solidFill>
                            <a:srgbClr val="FFFFFF"/>
                          </a:solidFill>
                        </a:rPr>
                        <a:t>R²</a:t>
                      </a:r>
                    </a:p>
                  </a:txBody>
                  <a:tcPr>
                    <a:solidFill>
                      <a:srgbClr val="142237"/>
                    </a:solidFill>
                  </a:tcPr>
                </a:tc>
              </a:tr>
              <a:tr h="411480">
                <a:tc>
                  <a:txBody>
                    <a:bodyPr/>
                    <a:lstStyle/>
                    <a:p>
                      <a:r>
                        <a:rPr sz="1200">
                          <a:solidFill>
                            <a:srgbClr val="1E2830"/>
                          </a:solidFill>
                        </a:rPr>
                        <a:t>50-row</a:t>
                      </a:r>
                    </a:p>
                  </a:txBody>
                  <a:tcPr/>
                </a:tc>
                <a:tc>
                  <a:txBody>
                    <a:bodyPr/>
                    <a:lstStyle/>
                    <a:p>
                      <a:r>
                        <a:rPr sz="1200">
                          <a:solidFill>
                            <a:srgbClr val="1E2830"/>
                          </a:solidFill>
                        </a:rPr>
                        <a:t>16.3465</a:t>
                      </a:r>
                    </a:p>
                  </a:txBody>
                  <a:tcPr/>
                </a:tc>
                <a:tc>
                  <a:txBody>
                    <a:bodyPr/>
                    <a:lstStyle/>
                    <a:p>
                      <a:r>
                        <a:rPr sz="1200">
                          <a:solidFill>
                            <a:srgbClr val="1E2830"/>
                          </a:solidFill>
                        </a:rPr>
                        <a:t>8.8191</a:t>
                      </a:r>
                    </a:p>
                  </a:txBody>
                  <a:tcPr/>
                </a:tc>
                <a:tc>
                  <a:txBody>
                    <a:bodyPr/>
                    <a:lstStyle/>
                    <a:p>
                      <a:r>
                        <a:rPr sz="1200">
                          <a:solidFill>
                            <a:srgbClr val="1E2830"/>
                          </a:solidFill>
                        </a:rPr>
                        <a:t>0.862</a:t>
                      </a:r>
                    </a:p>
                  </a:txBody>
                  <a:tcPr/>
                </a:tc>
              </a:tr>
              <a:tr h="411480">
                <a:tc>
                  <a:txBody>
                    <a:bodyPr/>
                    <a:lstStyle/>
                    <a:p>
                      <a:r>
                        <a:rPr sz="1200">
                          <a:solidFill>
                            <a:srgbClr val="1E2830"/>
                          </a:solidFill>
                        </a:rPr>
                        <a:t>100-row</a:t>
                      </a:r>
                    </a:p>
                  </a:txBody>
                  <a:tcPr/>
                </a:tc>
                <a:tc>
                  <a:txBody>
                    <a:bodyPr/>
                    <a:lstStyle/>
                    <a:p>
                      <a:r>
                        <a:rPr sz="1200">
                          <a:solidFill>
                            <a:srgbClr val="1E2830"/>
                          </a:solidFill>
                        </a:rPr>
                        <a:t>12.5176</a:t>
                      </a:r>
                    </a:p>
                  </a:txBody>
                  <a:tcPr/>
                </a:tc>
                <a:tc>
                  <a:txBody>
                    <a:bodyPr/>
                    <a:lstStyle/>
                    <a:p>
                      <a:r>
                        <a:rPr sz="1200">
                          <a:solidFill>
                            <a:srgbClr val="1E2830"/>
                          </a:solidFill>
                        </a:rPr>
                        <a:t>6.0134</a:t>
                      </a:r>
                    </a:p>
                  </a:txBody>
                  <a:tcPr/>
                </a:tc>
                <a:tc>
                  <a:txBody>
                    <a:bodyPr/>
                    <a:lstStyle/>
                    <a:p>
                      <a:r>
                        <a:rPr sz="1200">
                          <a:solidFill>
                            <a:srgbClr val="1E2830"/>
                          </a:solidFill>
                        </a:rPr>
                        <a:t>0.9199</a:t>
                      </a:r>
                    </a:p>
                  </a:txBody>
                  <a:tcPr/>
                </a:tc>
              </a:tr>
              <a:tr h="411480">
                <a:tc>
                  <a:txBody>
                    <a:bodyPr/>
                    <a:lstStyle/>
                    <a:p>
                      <a:r>
                        <a:rPr sz="1200">
                          <a:solidFill>
                            <a:srgbClr val="1E2830"/>
                          </a:solidFill>
                        </a:rPr>
                        <a:t>150-row</a:t>
                      </a:r>
                    </a:p>
                  </a:txBody>
                  <a:tcPr/>
                </a:tc>
                <a:tc>
                  <a:txBody>
                    <a:bodyPr/>
                    <a:lstStyle/>
                    <a:p>
                      <a:r>
                        <a:rPr sz="1200">
                          <a:solidFill>
                            <a:srgbClr val="1E2830"/>
                          </a:solidFill>
                        </a:rPr>
                        <a:t>10.3802</a:t>
                      </a:r>
                    </a:p>
                  </a:txBody>
                  <a:tcPr/>
                </a:tc>
                <a:tc>
                  <a:txBody>
                    <a:bodyPr/>
                    <a:lstStyle/>
                    <a:p>
                      <a:r>
                        <a:rPr sz="1200">
                          <a:solidFill>
                            <a:srgbClr val="1E2830"/>
                          </a:solidFill>
                        </a:rPr>
                        <a:t>4.4542</a:t>
                      </a:r>
                    </a:p>
                  </a:txBody>
                  <a:tcPr/>
                </a:tc>
                <a:tc>
                  <a:txBody>
                    <a:bodyPr/>
                    <a:lstStyle/>
                    <a:p>
                      <a:r>
                        <a:rPr sz="1200">
                          <a:solidFill>
                            <a:srgbClr val="1E2830"/>
                          </a:solidFill>
                        </a:rPr>
                        <a:t>0.9454</a:t>
                      </a:r>
                    </a:p>
                  </a:txBody>
                  <a:tcPr/>
                </a:tc>
              </a:tr>
              <a:tr h="411480">
                <a:tc>
                  <a:txBody>
                    <a:bodyPr/>
                    <a:lstStyle/>
                    <a:p>
                      <a:r>
                        <a:rPr sz="1200">
                          <a:solidFill>
                            <a:srgbClr val="1E2830"/>
                          </a:solidFill>
                        </a:rPr>
                        <a:t>200-row</a:t>
                      </a:r>
                    </a:p>
                  </a:txBody>
                  <a:tcPr/>
                </a:tc>
                <a:tc>
                  <a:txBody>
                    <a:bodyPr/>
                    <a:lstStyle/>
                    <a:p>
                      <a:r>
                        <a:rPr sz="1200">
                          <a:solidFill>
                            <a:srgbClr val="1E2830"/>
                          </a:solidFill>
                        </a:rPr>
                        <a:t>8.5374</a:t>
                      </a:r>
                    </a:p>
                  </a:txBody>
                  <a:tcPr/>
                </a:tc>
                <a:tc>
                  <a:txBody>
                    <a:bodyPr/>
                    <a:lstStyle/>
                    <a:p>
                      <a:r>
                        <a:rPr sz="1200">
                          <a:solidFill>
                            <a:srgbClr val="1E2830"/>
                          </a:solidFill>
                        </a:rPr>
                        <a:t>3.6258</a:t>
                      </a:r>
                    </a:p>
                  </a:txBody>
                  <a:tcPr/>
                </a:tc>
                <a:tc>
                  <a:txBody>
                    <a:bodyPr/>
                    <a:lstStyle/>
                    <a:p>
                      <a:r>
                        <a:rPr sz="1200">
                          <a:solidFill>
                            <a:srgbClr val="1E2830"/>
                          </a:solidFill>
                        </a:rPr>
                        <a:t>0.9635</a:t>
                      </a:r>
                    </a:p>
                  </a:txBody>
                  <a:tcPr/>
                </a:tc>
              </a:tr>
              <a:tr h="411480">
                <a:tc>
                  <a:txBody>
                    <a:bodyPr/>
                    <a:lstStyle/>
                    <a:p>
                      <a:r>
                        <a:rPr sz="1200">
                          <a:solidFill>
                            <a:srgbClr val="1E2830"/>
                          </a:solidFill>
                        </a:rPr>
                        <a:t>250-row</a:t>
                      </a:r>
                    </a:p>
                  </a:txBody>
                  <a:tcPr/>
                </a:tc>
                <a:tc>
                  <a:txBody>
                    <a:bodyPr/>
                    <a:lstStyle/>
                    <a:p>
                      <a:r>
                        <a:rPr sz="1200">
                          <a:solidFill>
                            <a:srgbClr val="1E2830"/>
                          </a:solidFill>
                        </a:rPr>
                        <a:t>7.8812</a:t>
                      </a:r>
                    </a:p>
                  </a:txBody>
                  <a:tcPr/>
                </a:tc>
                <a:tc>
                  <a:txBody>
                    <a:bodyPr/>
                    <a:lstStyle/>
                    <a:p>
                      <a:r>
                        <a:rPr sz="1200">
                          <a:solidFill>
                            <a:srgbClr val="1E2830"/>
                          </a:solidFill>
                        </a:rPr>
                        <a:t>3.1898</a:t>
                      </a:r>
                    </a:p>
                  </a:txBody>
                  <a:tcPr/>
                </a:tc>
                <a:tc>
                  <a:txBody>
                    <a:bodyPr/>
                    <a:lstStyle/>
                    <a:p>
                      <a:r>
                        <a:rPr sz="1200">
                          <a:solidFill>
                            <a:srgbClr val="1E2830"/>
                          </a:solidFill>
                        </a:rPr>
                        <a:t>0.9683</a:t>
                      </a:r>
                    </a:p>
                  </a:txBody>
                  <a:tcPr/>
                </a:tc>
              </a:tr>
            </a:tbl>
          </a:graphicData>
        </a:graphic>
      </p:graphicFrame>
      <p:sp>
        <p:nvSpPr>
          <p:cNvPr id="15" name="Rectangle 14"/>
          <p:cNvSpPr/>
          <p:nvPr/>
        </p:nvSpPr>
        <p:spPr>
          <a:xfrm>
            <a:off x="594360" y="6510528"/>
            <a:ext cx="10972800" cy="18288"/>
          </a:xfrm>
          <a:prstGeom prst="rect">
            <a:avLst/>
          </a:prstGeom>
          <a:solidFill>
            <a:srgbClr val="DC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 y="6556248"/>
            <a:ext cx="10515600" cy="182880"/>
          </a:xfrm>
          <a:prstGeom prst="rect">
            <a:avLst/>
          </a:prstGeom>
          <a:noFill/>
        </p:spPr>
        <p:txBody>
          <a:bodyPr wrap="none">
            <a:spAutoFit/>
          </a:bodyPr>
          <a:lstStyle/>
          <a:p>
            <a:r>
              <a:rPr sz="800">
                <a:solidFill>
                  <a:srgbClr val="5F6E78"/>
                </a:solidFill>
              </a:rPr>
              <a:t>BGL Wearable Estimation • Engineering Review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640080"/>
          </a:xfrm>
          <a:prstGeom prst="rect">
            <a:avLst/>
          </a:prstGeom>
          <a:noFill/>
        </p:spPr>
        <p:txBody>
          <a:bodyPr wrap="none">
            <a:spAutoFit/>
          </a:bodyPr>
          <a:lstStyle/>
          <a:p>
            <a:r>
              <a:rPr sz="2700" b="1">
                <a:solidFill>
                  <a:srgbClr val="142237"/>
                </a:solidFill>
              </a:rPr>
              <a:t>Prediction Quality</a:t>
            </a:r>
          </a:p>
        </p:txBody>
      </p:sp>
      <p:sp>
        <p:nvSpPr>
          <p:cNvPr id="4" name="TextBox 3"/>
          <p:cNvSpPr txBox="1"/>
          <p:nvPr/>
        </p:nvSpPr>
        <p:spPr>
          <a:xfrm>
            <a:off x="621792" y="960120"/>
            <a:ext cx="10789920" cy="411480"/>
          </a:xfrm>
          <a:prstGeom prst="rect">
            <a:avLst/>
          </a:prstGeom>
          <a:noFill/>
        </p:spPr>
        <p:txBody>
          <a:bodyPr wrap="none">
            <a:spAutoFit/>
          </a:bodyPr>
          <a:lstStyle/>
          <a:p>
            <a:r>
              <a:rPr sz="1200">
                <a:solidFill>
                  <a:srgbClr val="5F6E78"/>
                </a:solidFill>
              </a:rPr>
              <a:t>What the validation scatter actually tells us</a:t>
            </a:r>
          </a:p>
        </p:txBody>
      </p:sp>
      <p:pic>
        <p:nvPicPr>
          <p:cNvPr id="5" name="Picture 4" descr="actual_vs_predicted_legacy_validation.png"/>
          <p:cNvPicPr>
            <a:picLocks noChangeAspect="1"/>
          </p:cNvPicPr>
          <p:nvPr/>
        </p:nvPicPr>
        <p:blipFill>
          <a:blip r:embed="rId2"/>
          <a:stretch>
            <a:fillRect/>
          </a:stretch>
        </p:blipFill>
        <p:spPr>
          <a:xfrm>
            <a:off x="731520" y="1280160"/>
            <a:ext cx="5486400" cy="4702629"/>
          </a:xfrm>
          <a:prstGeom prst="rect">
            <a:avLst/>
          </a:prstGeom>
        </p:spPr>
      </p:pic>
      <p:pic>
        <p:nvPicPr>
          <p:cNvPr id="6" name="Picture 5" descr="residual_distribution_legacy_validation.png"/>
          <p:cNvPicPr>
            <a:picLocks noChangeAspect="1"/>
          </p:cNvPicPr>
          <p:nvPr/>
        </p:nvPicPr>
        <p:blipFill>
          <a:blip r:embed="rId3"/>
          <a:stretch>
            <a:fillRect/>
          </a:stretch>
        </p:blipFill>
        <p:spPr>
          <a:xfrm>
            <a:off x="6355080" y="1280160"/>
            <a:ext cx="5074920" cy="3624943"/>
          </a:xfrm>
          <a:prstGeom prst="rect">
            <a:avLst/>
          </a:prstGeom>
        </p:spPr>
      </p:pic>
      <p:sp>
        <p:nvSpPr>
          <p:cNvPr id="7" name="TextBox 6"/>
          <p:cNvSpPr txBox="1"/>
          <p:nvPr/>
        </p:nvSpPr>
        <p:spPr>
          <a:xfrm>
            <a:off x="822960" y="5623560"/>
            <a:ext cx="10515600" cy="4480560"/>
          </a:xfrm>
          <a:prstGeom prst="rect">
            <a:avLst/>
          </a:prstGeom>
          <a:noFill/>
        </p:spPr>
        <p:txBody>
          <a:bodyPr wrap="square">
            <a:spAutoFit/>
          </a:bodyPr>
          <a:lstStyle/>
          <a:p>
            <a:pPr>
              <a:spcAft>
                <a:spcPts val="1000"/>
              </a:spcAft>
              <a:defRPr sz="1100" b="0">
                <a:solidFill>
                  <a:srgbClr val="1E2830"/>
                </a:solidFill>
              </a:defRPr>
            </a:pPr>
            <a:r>
              <a:t>The legacy validation predictions track the target strongly overall.</a:t>
            </a:r>
          </a:p>
          <a:p>
            <a:pPr>
              <a:spcAft>
                <a:spcPts val="1000"/>
              </a:spcAft>
              <a:defRPr sz="1100" b="0">
                <a:solidFill>
                  <a:srgbClr val="1E2830"/>
                </a:solidFill>
              </a:defRPr>
            </a:pPr>
            <a:r>
              <a:t>However, residuals include large errors around regime transitions; this motivated the two-stage experiment.</a:t>
            </a:r>
          </a:p>
          <a:p>
            <a:pPr>
              <a:spcAft>
                <a:spcPts val="1000"/>
              </a:spcAft>
              <a:defRPr sz="1100" b="0">
                <a:solidFill>
                  <a:srgbClr val="1E2830"/>
                </a:solidFill>
              </a:defRPr>
            </a:pPr>
            <a:r>
              <a:t>Plots are descriptive of this validation split, not proof of external generalization.</a:t>
            </a:r>
          </a:p>
        </p:txBody>
      </p:sp>
      <p:sp>
        <p:nvSpPr>
          <p:cNvPr id="8" name="Rectangle 7"/>
          <p:cNvSpPr/>
          <p:nvPr/>
        </p:nvSpPr>
        <p:spPr>
          <a:xfrm>
            <a:off x="594360" y="6510528"/>
            <a:ext cx="10972800" cy="18288"/>
          </a:xfrm>
          <a:prstGeom prst="rect">
            <a:avLst/>
          </a:prstGeom>
          <a:solidFill>
            <a:srgbClr val="DC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6556248"/>
            <a:ext cx="10515600" cy="182880"/>
          </a:xfrm>
          <a:prstGeom prst="rect">
            <a:avLst/>
          </a:prstGeom>
          <a:noFill/>
        </p:spPr>
        <p:txBody>
          <a:bodyPr wrap="none">
            <a:spAutoFit/>
          </a:bodyPr>
          <a:lstStyle/>
          <a:p>
            <a:r>
              <a:rPr sz="800">
                <a:solidFill>
                  <a:srgbClr val="5F6E78"/>
                </a:solidFill>
              </a:rPr>
              <a:t>BGL Wearable Estimation • Engineering Review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640080"/>
          </a:xfrm>
          <a:prstGeom prst="rect">
            <a:avLst/>
          </a:prstGeom>
          <a:noFill/>
        </p:spPr>
        <p:txBody>
          <a:bodyPr wrap="none">
            <a:spAutoFit/>
          </a:bodyPr>
          <a:lstStyle/>
          <a:p>
            <a:r>
              <a:rPr sz="2700" b="1">
                <a:solidFill>
                  <a:srgbClr val="142237"/>
                </a:solidFill>
              </a:rPr>
              <a:t>Reliability / Leakage Audit</a:t>
            </a:r>
          </a:p>
        </p:txBody>
      </p:sp>
      <p:sp>
        <p:nvSpPr>
          <p:cNvPr id="4" name="TextBox 3"/>
          <p:cNvSpPr txBox="1"/>
          <p:nvPr/>
        </p:nvSpPr>
        <p:spPr>
          <a:xfrm>
            <a:off x="621792" y="960120"/>
            <a:ext cx="10789920" cy="411480"/>
          </a:xfrm>
          <a:prstGeom prst="rect">
            <a:avLst/>
          </a:prstGeom>
          <a:noFill/>
        </p:spPr>
        <p:txBody>
          <a:bodyPr wrap="none">
            <a:spAutoFit/>
          </a:bodyPr>
          <a:lstStyle/>
          <a:p>
            <a:r>
              <a:rPr sz="1200">
                <a:solidFill>
                  <a:srgbClr val="5F6E78"/>
                </a:solidFill>
              </a:rPr>
              <a:t>The strong result triggered a deliberate audit</a:t>
            </a:r>
          </a:p>
        </p:txBody>
      </p:sp>
      <p:sp>
        <p:nvSpPr>
          <p:cNvPr id="5" name="Rounded Rectangle 4"/>
          <p:cNvSpPr/>
          <p:nvPr/>
        </p:nvSpPr>
        <p:spPr>
          <a:xfrm>
            <a:off x="640080" y="1325880"/>
            <a:ext cx="3337560" cy="1325880"/>
          </a:xfrm>
          <a:prstGeom prst="roundRect">
            <a:avLst/>
          </a:prstGeom>
          <a:solidFill>
            <a:srgbClr val="F2F6F8"/>
          </a:solidFill>
          <a:ln>
            <a:solidFill>
              <a:srgbClr val="D7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325880"/>
            <a:ext cx="73152" cy="1325880"/>
          </a:xfrm>
          <a:prstGeom prst="rect">
            <a:avLst/>
          </a:prstGeom>
          <a:solidFill>
            <a:srgbClr val="2D8C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7" y="1490472"/>
            <a:ext cx="3017520" cy="1097280"/>
          </a:xfrm>
          <a:prstGeom prst="rect">
            <a:avLst/>
          </a:prstGeom>
          <a:noFill/>
        </p:spPr>
        <p:txBody>
          <a:bodyPr wrap="none">
            <a:spAutoFit/>
          </a:bodyPr>
          <a:lstStyle/>
          <a:p>
            <a:r>
              <a:rPr sz="1100">
                <a:solidFill>
                  <a:srgbClr val="5F6E78"/>
                </a:solidFill>
              </a:rPr>
              <a:t>Rolling current-row inclusion</a:t>
            </a:r>
          </a:p>
          <a:p>
            <a:r>
              <a:rPr sz="2400" b="1">
                <a:solidFill>
                  <a:srgbClr val="142237"/>
                </a:solidFill>
              </a:rPr>
              <a:t>PASS</a:t>
            </a:r>
          </a:p>
        </p:txBody>
      </p:sp>
      <p:sp>
        <p:nvSpPr>
          <p:cNvPr id="8" name="Rounded Rectangle 7"/>
          <p:cNvSpPr/>
          <p:nvPr/>
        </p:nvSpPr>
        <p:spPr>
          <a:xfrm>
            <a:off x="4434840" y="1325880"/>
            <a:ext cx="3337560" cy="1325880"/>
          </a:xfrm>
          <a:prstGeom prst="roundRect">
            <a:avLst/>
          </a:prstGeom>
          <a:solidFill>
            <a:srgbClr val="F2F6F8"/>
          </a:solidFill>
          <a:ln>
            <a:solidFill>
              <a:srgbClr val="D7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434840" y="1325880"/>
            <a:ext cx="73152" cy="1325880"/>
          </a:xfrm>
          <a:prstGeom prst="rect">
            <a:avLst/>
          </a:prstGeom>
          <a:solidFill>
            <a:srgbClr val="B94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36008" y="1490472"/>
            <a:ext cx="3017520" cy="1097280"/>
          </a:xfrm>
          <a:prstGeom prst="rect">
            <a:avLst/>
          </a:prstGeom>
          <a:noFill/>
        </p:spPr>
        <p:txBody>
          <a:bodyPr wrap="none">
            <a:spAutoFit/>
          </a:bodyPr>
          <a:lstStyle/>
          <a:p>
            <a:r>
              <a:rPr sz="1100">
                <a:solidFill>
                  <a:srgbClr val="5F6E78"/>
                </a:solidFill>
              </a:rPr>
              <a:t>Legacy participant separation</a:t>
            </a:r>
          </a:p>
          <a:p>
            <a:r>
              <a:rPr sz="2400" b="1">
                <a:solidFill>
                  <a:srgbClr val="142237"/>
                </a:solidFill>
              </a:rPr>
              <a:t>FAIL</a:t>
            </a:r>
          </a:p>
        </p:txBody>
      </p:sp>
      <p:sp>
        <p:nvSpPr>
          <p:cNvPr id="11" name="Rounded Rectangle 10"/>
          <p:cNvSpPr/>
          <p:nvPr/>
        </p:nvSpPr>
        <p:spPr>
          <a:xfrm>
            <a:off x="8229600" y="1325880"/>
            <a:ext cx="3337560" cy="1325880"/>
          </a:xfrm>
          <a:prstGeom prst="roundRect">
            <a:avLst/>
          </a:prstGeom>
          <a:solidFill>
            <a:srgbClr val="F2F6F8"/>
          </a:solidFill>
          <a:ln>
            <a:solidFill>
              <a:srgbClr val="D7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29600" y="1325880"/>
            <a:ext cx="73152" cy="1325880"/>
          </a:xfrm>
          <a:prstGeom prst="rect">
            <a:avLst/>
          </a:prstGeom>
          <a:solidFill>
            <a:srgbClr val="CD91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30768" y="1490472"/>
            <a:ext cx="3017520" cy="1097280"/>
          </a:xfrm>
          <a:prstGeom prst="rect">
            <a:avLst/>
          </a:prstGeom>
          <a:noFill/>
        </p:spPr>
        <p:txBody>
          <a:bodyPr wrap="none">
            <a:spAutoFit/>
          </a:bodyPr>
          <a:lstStyle/>
          <a:p>
            <a:r>
              <a:rPr sz="1100">
                <a:solidFill>
                  <a:srgbClr val="5F6E78"/>
                </a:solidFill>
              </a:rPr>
              <a:t>Validation history contains train rows</a:t>
            </a:r>
          </a:p>
          <a:p>
            <a:r>
              <a:rPr sz="2400" b="1">
                <a:solidFill>
                  <a:srgbClr val="142237"/>
                </a:solidFill>
              </a:rPr>
              <a:t>WARNING</a:t>
            </a:r>
          </a:p>
        </p:txBody>
      </p:sp>
      <p:sp>
        <p:nvSpPr>
          <p:cNvPr id="14" name="Rounded Rectangle 13"/>
          <p:cNvSpPr/>
          <p:nvPr/>
        </p:nvSpPr>
        <p:spPr>
          <a:xfrm>
            <a:off x="640080" y="3154680"/>
            <a:ext cx="3337560" cy="1325880"/>
          </a:xfrm>
          <a:prstGeom prst="roundRect">
            <a:avLst/>
          </a:prstGeom>
          <a:solidFill>
            <a:srgbClr val="F2F6F8"/>
          </a:solidFill>
          <a:ln>
            <a:solidFill>
              <a:srgbClr val="D7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3154680"/>
            <a:ext cx="73152" cy="1325880"/>
          </a:xfrm>
          <a:prstGeom prst="rect">
            <a:avLst/>
          </a:prstGeom>
          <a:solidFill>
            <a:srgbClr val="CD91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7" y="3319272"/>
            <a:ext cx="3017520" cy="1097280"/>
          </a:xfrm>
          <a:prstGeom prst="rect">
            <a:avLst/>
          </a:prstGeom>
          <a:noFill/>
        </p:spPr>
        <p:txBody>
          <a:bodyPr wrap="none">
            <a:spAutoFit/>
          </a:bodyPr>
          <a:lstStyle/>
          <a:p>
            <a:r>
              <a:rPr sz="1100">
                <a:solidFill>
                  <a:srgbClr val="5F6E78"/>
                </a:solidFill>
              </a:rPr>
              <a:t>Rolling-window overlap</a:t>
            </a:r>
          </a:p>
          <a:p>
            <a:r>
              <a:rPr sz="2400" b="1">
                <a:solidFill>
                  <a:srgbClr val="142237"/>
                </a:solidFill>
              </a:rPr>
              <a:t>WARNING</a:t>
            </a:r>
          </a:p>
        </p:txBody>
      </p:sp>
      <p:sp>
        <p:nvSpPr>
          <p:cNvPr id="17" name="Rounded Rectangle 16"/>
          <p:cNvSpPr/>
          <p:nvPr/>
        </p:nvSpPr>
        <p:spPr>
          <a:xfrm>
            <a:off x="4434840" y="3154680"/>
            <a:ext cx="3337560" cy="1325880"/>
          </a:xfrm>
          <a:prstGeom prst="roundRect">
            <a:avLst/>
          </a:prstGeom>
          <a:solidFill>
            <a:srgbClr val="F2F6F8"/>
          </a:solidFill>
          <a:ln>
            <a:solidFill>
              <a:srgbClr val="D7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34840" y="3154680"/>
            <a:ext cx="73152" cy="1325880"/>
          </a:xfrm>
          <a:prstGeom prst="rect">
            <a:avLst/>
          </a:prstGeom>
          <a:solidFill>
            <a:srgbClr val="B94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36008" y="3319272"/>
            <a:ext cx="3017520" cy="1097280"/>
          </a:xfrm>
          <a:prstGeom prst="rect">
            <a:avLst/>
          </a:prstGeom>
          <a:noFill/>
        </p:spPr>
        <p:txBody>
          <a:bodyPr wrap="none">
            <a:spAutoFit/>
          </a:bodyPr>
          <a:lstStyle/>
          <a:p>
            <a:r>
              <a:rPr sz="1100">
                <a:solidFill>
                  <a:srgbClr val="5F6E78"/>
                </a:solidFill>
              </a:rPr>
              <a:t>Block/session semantics</a:t>
            </a:r>
          </a:p>
          <a:p>
            <a:r>
              <a:rPr sz="2400" b="1">
                <a:solidFill>
                  <a:srgbClr val="142237"/>
                </a:solidFill>
              </a:rPr>
              <a:t>NOT VERIFIED</a:t>
            </a:r>
          </a:p>
        </p:txBody>
      </p:sp>
      <p:sp>
        <p:nvSpPr>
          <p:cNvPr id="20" name="Rounded Rectangle 19"/>
          <p:cNvSpPr/>
          <p:nvPr/>
        </p:nvSpPr>
        <p:spPr>
          <a:xfrm>
            <a:off x="8229600" y="3154680"/>
            <a:ext cx="3337560" cy="1325880"/>
          </a:xfrm>
          <a:prstGeom prst="roundRect">
            <a:avLst/>
          </a:prstGeom>
          <a:solidFill>
            <a:srgbClr val="F2F6F8"/>
          </a:solidFill>
          <a:ln>
            <a:solidFill>
              <a:srgbClr val="D7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9600" y="3154680"/>
            <a:ext cx="73152" cy="1325880"/>
          </a:xfrm>
          <a:prstGeom prst="rect">
            <a:avLst/>
          </a:prstGeom>
          <a:solidFill>
            <a:srgbClr val="B94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30768" y="3319272"/>
            <a:ext cx="3017520" cy="1097280"/>
          </a:xfrm>
          <a:prstGeom prst="rect">
            <a:avLst/>
          </a:prstGeom>
          <a:noFill/>
        </p:spPr>
        <p:txBody>
          <a:bodyPr wrap="none">
            <a:spAutoFit/>
          </a:bodyPr>
          <a:lstStyle/>
          <a:p>
            <a:r>
              <a:rPr sz="1100">
                <a:solidFill>
                  <a:srgbClr val="5F6E78"/>
                </a:solidFill>
              </a:rPr>
              <a:t>External validation</a:t>
            </a:r>
          </a:p>
          <a:p>
            <a:r>
              <a:rPr sz="2400" b="1">
                <a:solidFill>
                  <a:srgbClr val="142237"/>
                </a:solidFill>
              </a:rPr>
              <a:t>NOT VERIFIED</a:t>
            </a:r>
          </a:p>
        </p:txBody>
      </p:sp>
      <p:sp>
        <p:nvSpPr>
          <p:cNvPr id="23" name="TextBox 22"/>
          <p:cNvSpPr txBox="1"/>
          <p:nvPr/>
        </p:nvSpPr>
        <p:spPr>
          <a:xfrm>
            <a:off x="822960" y="5166360"/>
            <a:ext cx="10515600" cy="4480560"/>
          </a:xfrm>
          <a:prstGeom prst="rect">
            <a:avLst/>
          </a:prstGeom>
          <a:noFill/>
        </p:spPr>
        <p:txBody>
          <a:bodyPr wrap="square">
            <a:spAutoFit/>
          </a:bodyPr>
          <a:lstStyle/>
          <a:p>
            <a:pPr>
              <a:spcAft>
                <a:spcPts val="1000"/>
              </a:spcAft>
              <a:defRPr sz="1300" b="0">
                <a:solidFill>
                  <a:srgbClr val="1E2830"/>
                </a:solidFill>
              </a:defRPr>
            </a:pPr>
            <a:r>
              <a:t>The rolling calculation itself is past-only.</a:t>
            </a:r>
          </a:p>
          <a:p>
            <a:pPr>
              <a:spcAft>
                <a:spcPts val="1000"/>
              </a:spcAft>
              <a:defRPr sz="1300" b="0">
                <a:solidFill>
                  <a:srgbClr val="1E2830"/>
                </a:solidFill>
              </a:defRPr>
            </a:pPr>
            <a:r>
              <a:t>The legacy split is not participant independent; reconstructed packaging audit found training observations inside essentially every rolling validation history.</a:t>
            </a:r>
          </a:p>
          <a:p>
            <a:pPr>
              <a:spcAft>
                <a:spcPts val="1000"/>
              </a:spcAft>
              <a:defRPr sz="1300" b="0">
                <a:solidFill>
                  <a:srgbClr val="1E2830"/>
                </a:solidFill>
              </a:defRPr>
            </a:pPr>
            <a:r>
              <a:t>The biggest unresolved issue is whether the 701 contiguous blocks represent sessions/recording periods that should be respected by rolling histories.</a:t>
            </a:r>
          </a:p>
        </p:txBody>
      </p:sp>
      <p:sp>
        <p:nvSpPr>
          <p:cNvPr id="24" name="Rectangle 23"/>
          <p:cNvSpPr/>
          <p:nvPr/>
        </p:nvSpPr>
        <p:spPr>
          <a:xfrm>
            <a:off x="594360" y="6510528"/>
            <a:ext cx="10972800" cy="18288"/>
          </a:xfrm>
          <a:prstGeom prst="rect">
            <a:avLst/>
          </a:prstGeom>
          <a:solidFill>
            <a:srgbClr val="DC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1792" y="6556248"/>
            <a:ext cx="10515600" cy="182880"/>
          </a:xfrm>
          <a:prstGeom prst="rect">
            <a:avLst/>
          </a:prstGeom>
          <a:noFill/>
        </p:spPr>
        <p:txBody>
          <a:bodyPr wrap="none">
            <a:spAutoFit/>
          </a:bodyPr>
          <a:lstStyle/>
          <a:p>
            <a:r>
              <a:rPr sz="800">
                <a:solidFill>
                  <a:srgbClr val="5F6E78"/>
                </a:solidFill>
              </a:rPr>
              <a:t>BGL Wearable Estimation • Engineering Review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640080"/>
          </a:xfrm>
          <a:prstGeom prst="rect">
            <a:avLst/>
          </a:prstGeom>
          <a:noFill/>
        </p:spPr>
        <p:txBody>
          <a:bodyPr wrap="none">
            <a:spAutoFit/>
          </a:bodyPr>
          <a:lstStyle/>
          <a:p>
            <a:r>
              <a:rPr sz="2700" b="1">
                <a:solidFill>
                  <a:srgbClr val="142237"/>
                </a:solidFill>
              </a:rPr>
              <a:t>Current Status</a:t>
            </a:r>
          </a:p>
        </p:txBody>
      </p:sp>
      <p:sp>
        <p:nvSpPr>
          <p:cNvPr id="4" name="Rounded Rectangle 3"/>
          <p:cNvSpPr/>
          <p:nvPr/>
        </p:nvSpPr>
        <p:spPr>
          <a:xfrm>
            <a:off x="731520" y="1325880"/>
            <a:ext cx="3474720" cy="1325880"/>
          </a:xfrm>
          <a:prstGeom prst="roundRect">
            <a:avLst/>
          </a:prstGeom>
          <a:solidFill>
            <a:srgbClr val="F2F6F8"/>
          </a:solidFill>
          <a:ln>
            <a:solidFill>
              <a:srgbClr val="D7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325880"/>
            <a:ext cx="73152" cy="1325880"/>
          </a:xfrm>
          <a:prstGeom prst="rect">
            <a:avLst/>
          </a:prstGeom>
          <a:solidFill>
            <a:srgbClr val="2D8C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1490472"/>
            <a:ext cx="3154679" cy="1097280"/>
          </a:xfrm>
          <a:prstGeom prst="rect">
            <a:avLst/>
          </a:prstGeom>
          <a:noFill/>
        </p:spPr>
        <p:txBody>
          <a:bodyPr wrap="none">
            <a:spAutoFit/>
          </a:bodyPr>
          <a:lstStyle/>
          <a:p>
            <a:r>
              <a:rPr sz="1100">
                <a:solidFill>
                  <a:srgbClr val="5F6E78"/>
                </a:solidFill>
              </a:rPr>
              <a:t>COMPLETED</a:t>
            </a:r>
          </a:p>
          <a:p>
            <a:r>
              <a:rPr sz="2400" b="1">
                <a:solidFill>
                  <a:srgbClr val="142237"/>
                </a:solidFill>
              </a:rPr>
              <a:t>Model + audits</a:t>
            </a:r>
          </a:p>
          <a:p>
            <a:r>
              <a:rPr sz="900">
                <a:solidFill>
                  <a:srgbClr val="5F6E78"/>
                </a:solidFill>
              </a:rPr>
              <a:t>Data, features, models, leakage checks</a:t>
            </a:r>
          </a:p>
        </p:txBody>
      </p:sp>
      <p:sp>
        <p:nvSpPr>
          <p:cNvPr id="7" name="Rounded Rectangle 6"/>
          <p:cNvSpPr/>
          <p:nvPr/>
        </p:nvSpPr>
        <p:spPr>
          <a:xfrm>
            <a:off x="4389120" y="1325880"/>
            <a:ext cx="3474720" cy="1325880"/>
          </a:xfrm>
          <a:prstGeom prst="roundRect">
            <a:avLst/>
          </a:prstGeom>
          <a:solidFill>
            <a:srgbClr val="F2F6F8"/>
          </a:solidFill>
          <a:ln>
            <a:solidFill>
              <a:srgbClr val="D7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89120" y="1325880"/>
            <a:ext cx="73152" cy="1325880"/>
          </a:xfrm>
          <a:prstGeom prst="rect">
            <a:avLst/>
          </a:prstGeom>
          <a:solidFill>
            <a:srgbClr val="CD91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90288" y="1490472"/>
            <a:ext cx="3154679" cy="1097280"/>
          </a:xfrm>
          <a:prstGeom prst="rect">
            <a:avLst/>
          </a:prstGeom>
          <a:noFill/>
        </p:spPr>
        <p:txBody>
          <a:bodyPr wrap="none">
            <a:spAutoFit/>
          </a:bodyPr>
          <a:lstStyle/>
          <a:p>
            <a:r>
              <a:rPr sz="1100">
                <a:solidFill>
                  <a:srgbClr val="5F6E78"/>
                </a:solidFill>
              </a:rPr>
              <a:t>IN VALIDATION</a:t>
            </a:r>
          </a:p>
          <a:p>
            <a:r>
              <a:rPr sz="2400" b="1">
                <a:solidFill>
                  <a:srgbClr val="142237"/>
                </a:solidFill>
              </a:rPr>
              <a:t>Participant-level 250</a:t>
            </a:r>
          </a:p>
          <a:p>
            <a:r>
              <a:rPr sz="900">
                <a:solidFill>
                  <a:srgbClr val="5F6E78"/>
                </a:solidFill>
              </a:rPr>
              <a:t>Packaging-time audit included</a:t>
            </a:r>
          </a:p>
        </p:txBody>
      </p:sp>
      <p:sp>
        <p:nvSpPr>
          <p:cNvPr id="10" name="Rounded Rectangle 9"/>
          <p:cNvSpPr/>
          <p:nvPr/>
        </p:nvSpPr>
        <p:spPr>
          <a:xfrm>
            <a:off x="8046720" y="1325880"/>
            <a:ext cx="3474720" cy="1325880"/>
          </a:xfrm>
          <a:prstGeom prst="roundRect">
            <a:avLst/>
          </a:prstGeom>
          <a:solidFill>
            <a:srgbClr val="F2F6F8"/>
          </a:solidFill>
          <a:ln>
            <a:solidFill>
              <a:srgbClr val="D7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046720" y="1325880"/>
            <a:ext cx="73152" cy="1325880"/>
          </a:xfrm>
          <a:prstGeom prst="rect">
            <a:avLst/>
          </a:prstGeom>
          <a:solidFill>
            <a:srgbClr val="B94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47888" y="1490472"/>
            <a:ext cx="3154679" cy="1097280"/>
          </a:xfrm>
          <a:prstGeom prst="rect">
            <a:avLst/>
          </a:prstGeom>
          <a:noFill/>
        </p:spPr>
        <p:txBody>
          <a:bodyPr wrap="none">
            <a:spAutoFit/>
          </a:bodyPr>
          <a:lstStyle/>
          <a:p>
            <a:r>
              <a:rPr sz="1100">
                <a:solidFill>
                  <a:srgbClr val="5F6E78"/>
                </a:solidFill>
              </a:rPr>
              <a:t>REMAINING</a:t>
            </a:r>
          </a:p>
          <a:p>
            <a:r>
              <a:rPr sz="2400" b="1">
                <a:solidFill>
                  <a:srgbClr val="142237"/>
                </a:solidFill>
              </a:rPr>
              <a:t>Block/session meaning</a:t>
            </a:r>
          </a:p>
          <a:p>
            <a:r>
              <a:rPr sz="900">
                <a:solidFill>
                  <a:srgbClr val="5F6E78"/>
                </a:solidFill>
              </a:rPr>
              <a:t>Must be resolved before final claim</a:t>
            </a:r>
          </a:p>
        </p:txBody>
      </p:sp>
      <p:sp>
        <p:nvSpPr>
          <p:cNvPr id="13" name="TextBox 12"/>
          <p:cNvSpPr txBox="1"/>
          <p:nvPr/>
        </p:nvSpPr>
        <p:spPr>
          <a:xfrm>
            <a:off x="822960" y="3246120"/>
            <a:ext cx="10515600" cy="4480560"/>
          </a:xfrm>
          <a:prstGeom prst="rect">
            <a:avLst/>
          </a:prstGeom>
          <a:noFill/>
        </p:spPr>
        <p:txBody>
          <a:bodyPr wrap="square">
            <a:spAutoFit/>
          </a:bodyPr>
          <a:lstStyle/>
          <a:p>
            <a:pPr>
              <a:spcAft>
                <a:spcPts val="1000"/>
              </a:spcAft>
              <a:defRPr sz="1600" b="0">
                <a:solidFill>
                  <a:srgbClr val="1E2830"/>
                </a:solidFill>
              </a:defRPr>
            </a:pPr>
            <a:r>
              <a:t>Primary reproducible model: CatBoost + 250-row past-only physiological history.</a:t>
            </a:r>
          </a:p>
          <a:p>
            <a:pPr>
              <a:spcAft>
                <a:spcPts val="1000"/>
              </a:spcAft>
              <a:defRPr sz="1600" b="0">
                <a:solidFill>
                  <a:srgbClr val="1E2830"/>
                </a:solidFill>
              </a:defRPr>
            </a:pPr>
            <a:r>
              <a:t>Two-stage and probability-weighted variants are retained as experiments, not the champion.</a:t>
            </a:r>
          </a:p>
          <a:p>
            <a:pPr>
              <a:spcAft>
                <a:spcPts val="1000"/>
              </a:spcAft>
              <a:defRPr sz="1600" b="0">
                <a:solidFill>
                  <a:srgbClr val="1E2830"/>
                </a:solidFill>
              </a:defRPr>
            </a:pPr>
            <a:r>
              <a:t>The current 7.8812 validation score is reproducible, but reliability/generalization is not fully established.</a:t>
            </a:r>
          </a:p>
          <a:p>
            <a:pPr>
              <a:spcAft>
                <a:spcPts val="1000"/>
              </a:spcAft>
              <a:defRPr sz="1600" b="0">
                <a:solidFill>
                  <a:srgbClr val="1E2830"/>
                </a:solidFill>
              </a:defRPr>
            </a:pPr>
            <a:r>
              <a:t>The package contains code, notebooks, documentation, results and this presentation.</a:t>
            </a:r>
          </a:p>
        </p:txBody>
      </p:sp>
      <p:sp>
        <p:nvSpPr>
          <p:cNvPr id="14" name="Rectangle 13"/>
          <p:cNvSpPr/>
          <p:nvPr/>
        </p:nvSpPr>
        <p:spPr>
          <a:xfrm>
            <a:off x="594360" y="6510528"/>
            <a:ext cx="10972800" cy="18288"/>
          </a:xfrm>
          <a:prstGeom prst="rect">
            <a:avLst/>
          </a:prstGeom>
          <a:solidFill>
            <a:srgbClr val="DC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 y="6556248"/>
            <a:ext cx="10515600" cy="182880"/>
          </a:xfrm>
          <a:prstGeom prst="rect">
            <a:avLst/>
          </a:prstGeom>
          <a:noFill/>
        </p:spPr>
        <p:txBody>
          <a:bodyPr wrap="none">
            <a:spAutoFit/>
          </a:bodyPr>
          <a:lstStyle/>
          <a:p>
            <a:r>
              <a:rPr sz="800">
                <a:solidFill>
                  <a:srgbClr val="5F6E78"/>
                </a:solidFill>
              </a:rPr>
              <a:t>BGL Wearable Estimation • Engineering Review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640080"/>
          </a:xfrm>
          <a:prstGeom prst="rect">
            <a:avLst/>
          </a:prstGeom>
          <a:noFill/>
        </p:spPr>
        <p:txBody>
          <a:bodyPr wrap="none">
            <a:spAutoFit/>
          </a:bodyPr>
          <a:lstStyle/>
          <a:p>
            <a:r>
              <a:rPr sz="2700" b="1">
                <a:solidFill>
                  <a:srgbClr val="142237"/>
                </a:solidFill>
              </a:rPr>
              <a:t>Limitations</a:t>
            </a:r>
          </a:p>
        </p:txBody>
      </p:sp>
      <p:sp>
        <p:nvSpPr>
          <p:cNvPr id="4" name="TextBox 3"/>
          <p:cNvSpPr txBox="1"/>
          <p:nvPr/>
        </p:nvSpPr>
        <p:spPr>
          <a:xfrm>
            <a:off x="822960" y="1325880"/>
            <a:ext cx="10515600" cy="4480560"/>
          </a:xfrm>
          <a:prstGeom prst="rect">
            <a:avLst/>
          </a:prstGeom>
          <a:noFill/>
        </p:spPr>
        <p:txBody>
          <a:bodyPr wrap="square">
            <a:spAutoFit/>
          </a:bodyPr>
          <a:lstStyle/>
          <a:p>
            <a:pPr>
              <a:spcAft>
                <a:spcPts val="1000"/>
              </a:spcAft>
              <a:defRPr sz="1600" b="0">
                <a:solidFill>
                  <a:srgbClr val="1E2830"/>
                </a:solidFill>
              </a:defRPr>
            </a:pPr>
            <a:r>
              <a:t>Only 13 Age/group values are available; the dataset is small for a general-purpose physiological model.</a:t>
            </a:r>
          </a:p>
          <a:p>
            <a:pPr>
              <a:spcAft>
                <a:spcPts val="1000"/>
              </a:spcAft>
              <a:defRPr sz="1600" b="0">
                <a:solidFill>
                  <a:srgbClr val="1E2830"/>
                </a:solidFill>
              </a:defRPr>
            </a:pPr>
            <a:r>
              <a:t>The source description reports a mixture of true and synthetic records, with low BGL variation for non-diabetic records.</a:t>
            </a:r>
          </a:p>
          <a:p>
            <a:pPr>
              <a:spcAft>
                <a:spcPts val="1000"/>
              </a:spcAft>
              <a:defRPr sz="1600" b="0">
                <a:solidFill>
                  <a:srgbClr val="1E2830"/>
                </a:solidFill>
              </a:defRPr>
            </a:pPr>
            <a:r>
              <a:t>84.06% of usable observations have current BGL equal to previous BGL; a persistence baseline achieves R² ≈ 0.986.</a:t>
            </a:r>
          </a:p>
          <a:p>
            <a:pPr>
              <a:spcAft>
                <a:spcPts val="1000"/>
              </a:spcAft>
              <a:defRPr sz="1600" b="0">
                <a:solidFill>
                  <a:srgbClr val="1E2830"/>
                </a:solidFill>
              </a:defRPr>
            </a:pPr>
            <a:r>
              <a:t>Rolling windows are strongly overlapping, so row counts are not counts of independent samples.</a:t>
            </a:r>
          </a:p>
          <a:p>
            <a:pPr>
              <a:spcAft>
                <a:spcPts val="1000"/>
              </a:spcAft>
              <a:defRPr sz="1600" b="0">
                <a:solidFill>
                  <a:srgbClr val="1E2830"/>
                </a:solidFill>
              </a:defRPr>
            </a:pPr>
            <a:r>
              <a:t>Age is used as a participant/group proxy, but participant identity semantics are not independently established.</a:t>
            </a:r>
          </a:p>
          <a:p>
            <a:pPr>
              <a:spcAft>
                <a:spcPts val="1000"/>
              </a:spcAft>
              <a:defRPr sz="1600" b="0">
                <a:solidFill>
                  <a:srgbClr val="1E2830"/>
                </a:solidFill>
              </a:defRPr>
            </a:pPr>
            <a:r>
              <a:t>No timestamp is present in the working dataframe.</a:t>
            </a:r>
          </a:p>
          <a:p>
            <a:pPr>
              <a:spcAft>
                <a:spcPts val="1000"/>
              </a:spcAft>
              <a:defRPr sz="1600" b="0">
                <a:solidFill>
                  <a:srgbClr val="1E2830"/>
                </a:solidFill>
              </a:defRPr>
            </a:pPr>
            <a:r>
              <a:t>Clinical validation, prospective data collection and external validation have not been performed.</a:t>
            </a:r>
          </a:p>
        </p:txBody>
      </p:sp>
      <p:sp>
        <p:nvSpPr>
          <p:cNvPr id="5" name="Rectangle 4"/>
          <p:cNvSpPr/>
          <p:nvPr/>
        </p:nvSpPr>
        <p:spPr>
          <a:xfrm>
            <a:off x="594360" y="6510528"/>
            <a:ext cx="10972800" cy="18288"/>
          </a:xfrm>
          <a:prstGeom prst="rect">
            <a:avLst/>
          </a:prstGeom>
          <a:solidFill>
            <a:srgbClr val="DC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6556248"/>
            <a:ext cx="10515600" cy="182880"/>
          </a:xfrm>
          <a:prstGeom prst="rect">
            <a:avLst/>
          </a:prstGeom>
          <a:noFill/>
        </p:spPr>
        <p:txBody>
          <a:bodyPr wrap="none">
            <a:spAutoFit/>
          </a:bodyPr>
          <a:lstStyle/>
          <a:p>
            <a:r>
              <a:rPr sz="800">
                <a:solidFill>
                  <a:srgbClr val="5F6E78"/>
                </a:solidFill>
              </a:rPr>
              <a:t>BGL Wearable Estimation • Engineering Review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640080"/>
          </a:xfrm>
          <a:prstGeom prst="rect">
            <a:avLst/>
          </a:prstGeom>
          <a:noFill/>
        </p:spPr>
        <p:txBody>
          <a:bodyPr wrap="none">
            <a:spAutoFit/>
          </a:bodyPr>
          <a:lstStyle/>
          <a:p>
            <a:r>
              <a:rPr sz="2700" b="1">
                <a:solidFill>
                  <a:srgbClr val="142237"/>
                </a:solidFill>
              </a:rPr>
              <a:t>Future Improvements</a:t>
            </a:r>
          </a:p>
        </p:txBody>
      </p:sp>
      <p:sp>
        <p:nvSpPr>
          <p:cNvPr id="4" name="TextBox 3"/>
          <p:cNvSpPr txBox="1"/>
          <p:nvPr/>
        </p:nvSpPr>
        <p:spPr>
          <a:xfrm>
            <a:off x="621792" y="960120"/>
            <a:ext cx="10789920" cy="411480"/>
          </a:xfrm>
          <a:prstGeom prst="rect">
            <a:avLst/>
          </a:prstGeom>
          <a:noFill/>
        </p:spPr>
        <p:txBody>
          <a:bodyPr wrap="none">
            <a:spAutoFit/>
          </a:bodyPr>
          <a:lstStyle/>
          <a:p>
            <a:r>
              <a:rPr sz="1200">
                <a:solidFill>
                  <a:srgbClr val="5F6E78"/>
                </a:solidFill>
              </a:rPr>
              <a:t>Ordered by scientific value</a:t>
            </a:r>
          </a:p>
        </p:txBody>
      </p:sp>
      <p:sp>
        <p:nvSpPr>
          <p:cNvPr id="5" name="Rounded Rectangle 4"/>
          <p:cNvSpPr/>
          <p:nvPr/>
        </p:nvSpPr>
        <p:spPr>
          <a:xfrm>
            <a:off x="731520" y="1234440"/>
            <a:ext cx="5166360" cy="685800"/>
          </a:xfrm>
          <a:prstGeom prst="roundRect">
            <a:avLst/>
          </a:prstGeom>
          <a:solidFill>
            <a:srgbClr val="F2F6F8"/>
          </a:solidFill>
          <a:ln>
            <a:solidFill>
              <a:srgbClr val="1E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42237"/>
                </a:solidFill>
              </a:rPr>
              <a:t>1. Establish block/session semantics</a:t>
            </a:r>
          </a:p>
        </p:txBody>
      </p:sp>
      <p:sp>
        <p:nvSpPr>
          <p:cNvPr id="6" name="Rounded Rectangle 5"/>
          <p:cNvSpPr/>
          <p:nvPr/>
        </p:nvSpPr>
        <p:spPr>
          <a:xfrm>
            <a:off x="6355080" y="1234440"/>
            <a:ext cx="5166360" cy="685800"/>
          </a:xfrm>
          <a:prstGeom prst="roundRect">
            <a:avLst/>
          </a:prstGeom>
          <a:solidFill>
            <a:srgbClr val="F2F6F8"/>
          </a:solidFill>
          <a:ln>
            <a:solidFill>
              <a:srgbClr val="1E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42237"/>
                </a:solidFill>
              </a:rPr>
              <a:t>2. Build session-aware 250-row histories if justified</a:t>
            </a:r>
          </a:p>
        </p:txBody>
      </p:sp>
      <p:sp>
        <p:nvSpPr>
          <p:cNvPr id="7" name="Rounded Rectangle 6"/>
          <p:cNvSpPr/>
          <p:nvPr/>
        </p:nvSpPr>
        <p:spPr>
          <a:xfrm>
            <a:off x="731520" y="2560320"/>
            <a:ext cx="5166360" cy="685800"/>
          </a:xfrm>
          <a:prstGeom prst="roundRect">
            <a:avLst/>
          </a:prstGeom>
          <a:solidFill>
            <a:srgbClr val="F2F6F8"/>
          </a:solidFill>
          <a:ln>
            <a:solidFill>
              <a:srgbClr val="1E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42237"/>
                </a:solidFill>
              </a:rPr>
              <a:t>3. Repeat participant-level cross-validation</a:t>
            </a:r>
          </a:p>
        </p:txBody>
      </p:sp>
      <p:sp>
        <p:nvSpPr>
          <p:cNvPr id="8" name="Rounded Rectangle 7"/>
          <p:cNvSpPr/>
          <p:nvPr/>
        </p:nvSpPr>
        <p:spPr>
          <a:xfrm>
            <a:off x="6355080" y="2560320"/>
            <a:ext cx="5166360" cy="685800"/>
          </a:xfrm>
          <a:prstGeom prst="roundRect">
            <a:avLst/>
          </a:prstGeom>
          <a:solidFill>
            <a:srgbClr val="F2F6F8"/>
          </a:solidFill>
          <a:ln>
            <a:solidFill>
              <a:srgbClr val="1E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42237"/>
                </a:solidFill>
              </a:rPr>
              <a:t>4. Evaluate diabetic vs non-diabetic/source-defined subsets</a:t>
            </a:r>
          </a:p>
        </p:txBody>
      </p:sp>
      <p:sp>
        <p:nvSpPr>
          <p:cNvPr id="9" name="Rounded Rectangle 8"/>
          <p:cNvSpPr/>
          <p:nvPr/>
        </p:nvSpPr>
        <p:spPr>
          <a:xfrm>
            <a:off x="731520" y="3886200"/>
            <a:ext cx="5166360" cy="685800"/>
          </a:xfrm>
          <a:prstGeom prst="roundRect">
            <a:avLst/>
          </a:prstGeom>
          <a:solidFill>
            <a:srgbClr val="F2F6F8"/>
          </a:solidFill>
          <a:ln>
            <a:solidFill>
              <a:srgbClr val="1E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42237"/>
                </a:solidFill>
              </a:rPr>
              <a:t>5. Freeze methodology and evaluate untouched test data</a:t>
            </a:r>
          </a:p>
        </p:txBody>
      </p:sp>
      <p:sp>
        <p:nvSpPr>
          <p:cNvPr id="10" name="Rounded Rectangle 9"/>
          <p:cNvSpPr/>
          <p:nvPr/>
        </p:nvSpPr>
        <p:spPr>
          <a:xfrm>
            <a:off x="6355080" y="3886200"/>
            <a:ext cx="5166360" cy="685800"/>
          </a:xfrm>
          <a:prstGeom prst="roundRect">
            <a:avLst/>
          </a:prstGeom>
          <a:solidFill>
            <a:srgbClr val="F2F6F8"/>
          </a:solidFill>
          <a:ln>
            <a:solidFill>
              <a:srgbClr val="1E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42237"/>
                </a:solidFill>
              </a:rPr>
              <a:t>6. External/prospective validation + uncertainty</a:t>
            </a:r>
          </a:p>
        </p:txBody>
      </p:sp>
      <p:sp>
        <p:nvSpPr>
          <p:cNvPr id="11" name="Rounded Rectangle 10"/>
          <p:cNvSpPr/>
          <p:nvPr/>
        </p:nvSpPr>
        <p:spPr>
          <a:xfrm>
            <a:off x="731520" y="5212079"/>
            <a:ext cx="5166360" cy="685800"/>
          </a:xfrm>
          <a:prstGeom prst="roundRect">
            <a:avLst/>
          </a:prstGeom>
          <a:solidFill>
            <a:srgbClr val="F2F6F8"/>
          </a:solidFill>
          <a:ln>
            <a:solidFill>
              <a:srgbClr val="1E8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42237"/>
                </a:solidFill>
              </a:rPr>
              <a:t>7. Production inference, monitoring and model compression</a:t>
            </a:r>
          </a:p>
        </p:txBody>
      </p:sp>
      <p:sp>
        <p:nvSpPr>
          <p:cNvPr id="12" name="Rectangle 11"/>
          <p:cNvSpPr/>
          <p:nvPr/>
        </p:nvSpPr>
        <p:spPr>
          <a:xfrm>
            <a:off x="594360" y="6510528"/>
            <a:ext cx="10972800" cy="18288"/>
          </a:xfrm>
          <a:prstGeom prst="rect">
            <a:avLst/>
          </a:prstGeom>
          <a:solidFill>
            <a:srgbClr val="DC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 y="6556248"/>
            <a:ext cx="10515600" cy="182880"/>
          </a:xfrm>
          <a:prstGeom prst="rect">
            <a:avLst/>
          </a:prstGeom>
          <a:noFill/>
        </p:spPr>
        <p:txBody>
          <a:bodyPr wrap="none">
            <a:spAutoFit/>
          </a:bodyPr>
          <a:lstStyle/>
          <a:p>
            <a:r>
              <a:rPr sz="800">
                <a:solidFill>
                  <a:srgbClr val="5F6E78"/>
                </a:solidFill>
              </a:rPr>
              <a:t>BGL Wearable Estimation • Engineering Review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914400"/>
            <a:ext cx="10698480" cy="914400"/>
          </a:xfrm>
          <a:prstGeom prst="rect">
            <a:avLst/>
          </a:prstGeom>
          <a:noFill/>
        </p:spPr>
        <p:txBody>
          <a:bodyPr wrap="none">
            <a:spAutoFit/>
          </a:bodyPr>
          <a:lstStyle/>
          <a:p>
            <a:r>
              <a:rPr sz="3100" b="1">
                <a:solidFill>
                  <a:srgbClr val="FFFFFF"/>
                </a:solidFill>
              </a:rPr>
              <a:t>Engineering Conclusion</a:t>
            </a:r>
          </a:p>
        </p:txBody>
      </p:sp>
      <p:sp>
        <p:nvSpPr>
          <p:cNvPr id="4" name="TextBox 3"/>
          <p:cNvSpPr txBox="1"/>
          <p:nvPr/>
        </p:nvSpPr>
        <p:spPr>
          <a:xfrm>
            <a:off x="914400" y="2011680"/>
            <a:ext cx="10241280" cy="3474720"/>
          </a:xfrm>
          <a:prstGeom prst="rect">
            <a:avLst/>
          </a:prstGeom>
          <a:noFill/>
        </p:spPr>
        <p:txBody>
          <a:bodyPr wrap="square">
            <a:spAutoFit/>
          </a:bodyPr>
          <a:lstStyle/>
          <a:p>
            <a:pPr>
              <a:spcAft>
                <a:spcPts val="1000"/>
              </a:spcAft>
              <a:defRPr sz="2000" b="0">
                <a:solidFill>
                  <a:srgbClr val="1E2830"/>
                </a:solidFill>
              </a:defRPr>
            </a:pPr>
            <a:r>
              <a:t>Built: a reproducible, history-aware CatBoost BGL estimation pipeline.</a:t>
            </a:r>
          </a:p>
          <a:p>
            <a:pPr>
              <a:spcAft>
                <a:spcPts val="1000"/>
              </a:spcAft>
              <a:defRPr sz="2000" b="0">
                <a:solidFill>
                  <a:srgbClr val="1E2830"/>
                </a:solidFill>
              </a:defRPr>
            </a:pPr>
            <a:r>
              <a:t>Learned: BGL is highly persistent in this dataset, and long history captures strong regime information.</a:t>
            </a:r>
          </a:p>
          <a:p>
            <a:pPr>
              <a:spcAft>
                <a:spcPts val="1000"/>
              </a:spcAft>
              <a:defRPr sz="2000" b="0">
                <a:solidFill>
                  <a:srgbClr val="1E2830"/>
                </a:solidFill>
              </a:defRPr>
            </a:pPr>
            <a:r>
              <a:t>Current score: R² 0.9683 / RMSE 7.8812 on the legacy validation design.</a:t>
            </a:r>
          </a:p>
          <a:p>
            <a:pPr>
              <a:spcAft>
                <a:spcPts val="1000"/>
              </a:spcAft>
              <a:defRPr sz="2000" b="0">
                <a:solidFill>
                  <a:srgbClr val="1E2830"/>
                </a:solidFill>
              </a:defRPr>
            </a:pPr>
            <a:r>
              <a:t>Risk: that score is not a participant-independent or clinically validated performance claim.</a:t>
            </a:r>
          </a:p>
          <a:p>
            <a:pPr>
              <a:spcAft>
                <a:spcPts val="1000"/>
              </a:spcAft>
              <a:defRPr sz="2000" b="0">
                <a:solidFill>
                  <a:srgbClr val="1E2830"/>
                </a:solidFill>
              </a:defRPr>
            </a:pPr>
            <a:r>
              <a:t>Next: resolve block/session semantics and revalidate with participant- and time-aware evaluation.</a:t>
            </a:r>
          </a:p>
        </p:txBody>
      </p:sp>
      <p:sp>
        <p:nvSpPr>
          <p:cNvPr id="5" name="Rectangle 4"/>
          <p:cNvSpPr/>
          <p:nvPr/>
        </p:nvSpPr>
        <p:spPr>
          <a:xfrm>
            <a:off x="594360" y="6510528"/>
            <a:ext cx="10972800" cy="18288"/>
          </a:xfrm>
          <a:prstGeom prst="rect">
            <a:avLst/>
          </a:prstGeom>
          <a:solidFill>
            <a:srgbClr val="DC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6556248"/>
            <a:ext cx="10515600" cy="182880"/>
          </a:xfrm>
          <a:prstGeom prst="rect">
            <a:avLst/>
          </a:prstGeom>
          <a:noFill/>
        </p:spPr>
        <p:txBody>
          <a:bodyPr wrap="none">
            <a:spAutoFit/>
          </a:bodyPr>
          <a:lstStyle/>
          <a:p>
            <a:r>
              <a:rPr sz="800">
                <a:solidFill>
                  <a:srgbClr val="5F6E78"/>
                </a:solidFill>
              </a:rPr>
              <a:t>BGL Wearable Estimation • Engineering Review • 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